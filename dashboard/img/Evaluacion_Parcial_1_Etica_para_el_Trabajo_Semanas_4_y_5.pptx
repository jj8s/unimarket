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Fuente: Maleta Didactica Duoc UC, Evaluacion parcial N1 - Etica para el Trabajo, Subdireccion de Diseno Instruccional / Subdireccion de Evaluacion de Resultados de Aprendizaje, 2024. Se presentan unicamente las instrucciones de las semanas 4 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Indicadores de logro transcritos textualmente del documento institucional. Recordar a los equipos que la calificacion de la presentacion es individual, aunque el trabajo previo sea grupal.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el criterio de vigencia (maximo cinco anos) y en la pertinencia disciplinar de la noticia: son las dos causas mas frecuentes de reformulacion en 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Secuencia tomada del flujo de orientaciones del documento. El tercer paso se destaca porque es el que concentra las consultas sobre uso de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conceptos clave provienen de la experiencia de aprendizaje 1 (actividades 1.1, 1.2 y 1.3). Verificar en la revision de la semana 4 que esten explicitamente nombrados.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ronda de preguntas es individual y forma parte de la evaluacion, no es un anexo opcional.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Aspectos formales transcritos de la seccion Instrucciones especificas de la semana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indicadores de evaluacion aparecen aqui tal como estan formulados en la seccion Consideraciones. Las ponderaciones de la rubrica no se incluyen porque pertenecen a la pauta de evaluacion y no a las instrucciones de las semanas 4 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La lista sintetiza las exigencias de las semanas 4 y 5 y puede proyectarse durante la preparacion previa a las presentaciones.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23B"/>
        </a:solidFill>
      </p:bgPr>
    </p:bg>
    <p:spTree>
      <p:nvGrpSpPr>
        <p:cNvPr id="1" name=""/>
        <p:cNvGrpSpPr/>
        <p:nvPr/>
      </p:nvGrpSpPr>
      <p:grpSpPr>
        <a:xfrm>
          <a:off x="0" y="0"/>
          <a:ext cx="0" cy="0"/>
          <a:chOff x="0" y="0"/>
          <a:chExt cx="0" cy="0"/>
        </a:xfrm>
      </p:grpSpPr>
      <p:sp>
        <p:nvSpPr>
          <p:cNvPr id="2" name="Shape 0"/>
          <p:cNvSpPr/>
          <p:nvPr/>
        </p:nvSpPr>
        <p:spPr>
          <a:xfrm>
            <a:off x="9235440" y="-1371600"/>
            <a:ext cx="4754880" cy="4754880"/>
          </a:xfrm>
          <a:prstGeom prst="ellipse">
            <a:avLst/>
          </a:prstGeom>
          <a:solidFill>
            <a:srgbClr val="028090">
              <a:alpha val="38000"/>
            </a:srgbClr>
          </a:solidFill>
          <a:ln/>
        </p:spPr>
      </p:sp>
      <p:sp>
        <p:nvSpPr>
          <p:cNvPr id="3" name="Shape 1"/>
          <p:cNvSpPr/>
          <p:nvPr/>
        </p:nvSpPr>
        <p:spPr>
          <a:xfrm>
            <a:off x="10607040" y="3931920"/>
            <a:ext cx="2377440" cy="2377440"/>
          </a:xfrm>
          <a:prstGeom prst="ellipse">
            <a:avLst/>
          </a:prstGeom>
          <a:solidFill>
            <a:srgbClr val="02C39A">
              <a:alpha val="28000"/>
            </a:srgbClr>
          </a:solidFill>
          <a:ln/>
        </p:spPr>
      </p:sp>
      <p:sp>
        <p:nvSpPr>
          <p:cNvPr id="4" name="Text 2"/>
          <p:cNvSpPr txBox="1"/>
          <p:nvPr/>
        </p:nvSpPr>
        <p:spPr>
          <a:xfrm>
            <a:off x="640080" y="777240"/>
            <a:ext cx="7315200" cy="27432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DUOC UC  |  ÉTICA PARA EL TRABAJO</a:t>
            </a:r>
            <a:endParaRPr lang="en-US" sz="1300" dirty="0"/>
          </a:p>
        </p:txBody>
      </p:sp>
      <p:sp>
        <p:nvSpPr>
          <p:cNvPr id="5" name="Text 3"/>
          <p:cNvSpPr txBox="1"/>
          <p:nvPr/>
        </p:nvSpPr>
        <p:spPr>
          <a:xfrm>
            <a:off x="640080" y="1234440"/>
            <a:ext cx="841248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Evaluación parcial N°1</a:t>
            </a:r>
            <a:endParaRPr lang="en-US" sz="4600" dirty="0"/>
          </a:p>
        </p:txBody>
      </p:sp>
      <p:sp>
        <p:nvSpPr>
          <p:cNvPr id="6" name="Text 4"/>
          <p:cNvSpPr txBox="1"/>
          <p:nvPr/>
        </p:nvSpPr>
        <p:spPr>
          <a:xfrm>
            <a:off x="640080" y="2148840"/>
            <a:ext cx="8412480" cy="502920"/>
          </a:xfrm>
          <a:prstGeom prst="rect">
            <a:avLst/>
          </a:prstGeom>
          <a:noFill/>
          <a:ln/>
        </p:spPr>
        <p:txBody>
          <a:bodyPr wrap="square" lIns="0" tIns="0" rIns="0" bIns="0" rtlCol="0" anchor="ctr"/>
          <a:lstStyle/>
          <a:p>
            <a:pPr indent="0" marL="0">
              <a:buNone/>
            </a:pPr>
            <a:r>
              <a:rPr lang="en-US" sz="2200" i="1" dirty="0">
                <a:solidFill>
                  <a:srgbClr val="02C39A"/>
                </a:solidFill>
                <a:latin typeface="Cambria" pitchFamily="34" charset="0"/>
                <a:ea typeface="Cambria" pitchFamily="34" charset="-122"/>
                <a:cs typeface="Cambria" pitchFamily="34" charset="-120"/>
              </a:rPr>
              <a:t>Conectando la ética con la realidad profesional</a:t>
            </a:r>
            <a:endParaRPr lang="en-US" sz="2200" dirty="0"/>
          </a:p>
        </p:txBody>
      </p:sp>
      <p:sp>
        <p:nvSpPr>
          <p:cNvPr id="7" name="Text 5"/>
          <p:cNvSpPr txBox="1"/>
          <p:nvPr/>
        </p:nvSpPr>
        <p:spPr>
          <a:xfrm>
            <a:off x="640080" y="2788920"/>
            <a:ext cx="8412480" cy="365760"/>
          </a:xfrm>
          <a:prstGeom prst="rect">
            <a:avLst/>
          </a:prstGeom>
          <a:noFill/>
          <a:ln/>
        </p:spPr>
        <p:txBody>
          <a:bodyPr wrap="square" lIns="0" tIns="0" rIns="0" bIns="0" rtlCol="0" anchor="ctr"/>
          <a:lstStyle/>
          <a:p>
            <a:pPr indent="0" marL="0">
              <a:buNone/>
            </a:pPr>
            <a:r>
              <a:rPr lang="en-US" sz="1600" dirty="0">
                <a:solidFill>
                  <a:srgbClr val="BFD9DB"/>
                </a:solidFill>
                <a:latin typeface="Calibri" pitchFamily="34" charset="0"/>
                <a:ea typeface="Calibri" pitchFamily="34" charset="-122"/>
                <a:cs typeface="Calibri" pitchFamily="34" charset="-120"/>
              </a:rPr>
              <a:t>Instrucciones para estudiantes: semanas 4 y 5</a:t>
            </a:r>
            <a:endParaRPr lang="en-US" sz="1600" dirty="0"/>
          </a:p>
        </p:txBody>
      </p:sp>
      <p:sp>
        <p:nvSpPr>
          <p:cNvPr id="8" name="Text 6"/>
          <p:cNvSpPr txBox="1"/>
          <p:nvPr/>
        </p:nvSpPr>
        <p:spPr>
          <a:xfrm>
            <a:off x="640080" y="3977640"/>
            <a:ext cx="2286000" cy="640080"/>
          </a:xfrm>
          <a:prstGeom prst="rect">
            <a:avLst/>
          </a:prstGeom>
          <a:noFill/>
          <a:ln/>
        </p:spPr>
        <p:txBody>
          <a:bodyPr wrap="square" lIns="0" tIns="0" rIns="0" bIns="0" rtlCol="0" anchor="ctr"/>
          <a:lstStyle/>
          <a:p>
            <a:pPr indent="0" marL="0">
              <a:buNone/>
            </a:pPr>
            <a:r>
              <a:rPr lang="en-US" sz="3400" b="1" dirty="0">
                <a:solidFill>
                  <a:srgbClr val="00A896"/>
                </a:solidFill>
                <a:latin typeface="Cambria" pitchFamily="34" charset="0"/>
                <a:ea typeface="Cambria" pitchFamily="34" charset="-122"/>
                <a:cs typeface="Cambria" pitchFamily="34" charset="-120"/>
              </a:rPr>
              <a:t>35%</a:t>
            </a:r>
            <a:endParaRPr lang="en-US" sz="3400" dirty="0"/>
          </a:p>
        </p:txBody>
      </p:sp>
      <p:sp>
        <p:nvSpPr>
          <p:cNvPr id="9" name="Text 7"/>
          <p:cNvSpPr txBox="1"/>
          <p:nvPr/>
        </p:nvSpPr>
        <p:spPr>
          <a:xfrm>
            <a:off x="640080" y="4617720"/>
            <a:ext cx="2286000" cy="457200"/>
          </a:xfrm>
          <a:prstGeom prst="rect">
            <a:avLst/>
          </a:prstGeom>
          <a:noFill/>
          <a:ln/>
        </p:spPr>
        <p:txBody>
          <a:bodyPr wrap="square" lIns="0" tIns="0" rIns="0" bIns="0" rtlCol="0" anchor="ctr"/>
          <a:lstStyle/>
          <a:p>
            <a:pPr indent="0" marL="0">
              <a:buNone/>
            </a:pPr>
            <a:r>
              <a:rPr lang="en-US" sz="1300" dirty="0">
                <a:solidFill>
                  <a:srgbClr val="BFD9DB"/>
                </a:solidFill>
                <a:latin typeface="Calibri" pitchFamily="34" charset="0"/>
                <a:ea typeface="Calibri" pitchFamily="34" charset="-122"/>
                <a:cs typeface="Calibri" pitchFamily="34" charset="-120"/>
              </a:rPr>
              <a:t>de la nota final</a:t>
            </a:r>
            <a:endParaRPr lang="en-US" sz="1300" dirty="0"/>
          </a:p>
        </p:txBody>
      </p:sp>
      <p:sp>
        <p:nvSpPr>
          <p:cNvPr id="10" name="Text 8"/>
          <p:cNvSpPr txBox="1"/>
          <p:nvPr/>
        </p:nvSpPr>
        <p:spPr>
          <a:xfrm>
            <a:off x="3127248" y="3977640"/>
            <a:ext cx="2286000" cy="640080"/>
          </a:xfrm>
          <a:prstGeom prst="rect">
            <a:avLst/>
          </a:prstGeom>
          <a:noFill/>
          <a:ln/>
        </p:spPr>
        <p:txBody>
          <a:bodyPr wrap="square" lIns="0" tIns="0" rIns="0" bIns="0" rtlCol="0" anchor="ctr"/>
          <a:lstStyle/>
          <a:p>
            <a:pPr indent="0" marL="0">
              <a:buNone/>
            </a:pPr>
            <a:r>
              <a:rPr lang="en-US" sz="3400" b="1" dirty="0">
                <a:solidFill>
                  <a:srgbClr val="00A896"/>
                </a:solidFill>
                <a:latin typeface="Cambria" pitchFamily="34" charset="0"/>
                <a:ea typeface="Cambria" pitchFamily="34" charset="-122"/>
                <a:cs typeface="Cambria" pitchFamily="34" charset="-120"/>
              </a:rPr>
              <a:t>Hasta 3</a:t>
            </a:r>
            <a:endParaRPr lang="en-US" sz="3400" dirty="0"/>
          </a:p>
        </p:txBody>
      </p:sp>
      <p:sp>
        <p:nvSpPr>
          <p:cNvPr id="11" name="Text 9"/>
          <p:cNvSpPr txBox="1"/>
          <p:nvPr/>
        </p:nvSpPr>
        <p:spPr>
          <a:xfrm>
            <a:off x="3127248" y="4617720"/>
            <a:ext cx="2286000" cy="457200"/>
          </a:xfrm>
          <a:prstGeom prst="rect">
            <a:avLst/>
          </a:prstGeom>
          <a:noFill/>
          <a:ln/>
        </p:spPr>
        <p:txBody>
          <a:bodyPr wrap="square" lIns="0" tIns="0" rIns="0" bIns="0" rtlCol="0" anchor="ctr"/>
          <a:lstStyle/>
          <a:p>
            <a:pPr indent="0" marL="0">
              <a:buNone/>
            </a:pPr>
            <a:r>
              <a:rPr lang="en-US" sz="1300" dirty="0">
                <a:solidFill>
                  <a:srgbClr val="BFD9DB"/>
                </a:solidFill>
                <a:latin typeface="Calibri" pitchFamily="34" charset="0"/>
                <a:ea typeface="Calibri" pitchFamily="34" charset="-122"/>
                <a:cs typeface="Calibri" pitchFamily="34" charset="-120"/>
              </a:rPr>
              <a:t>integrantes por equipo</a:t>
            </a:r>
            <a:endParaRPr lang="en-US" sz="1300" dirty="0"/>
          </a:p>
        </p:txBody>
      </p:sp>
      <p:sp>
        <p:nvSpPr>
          <p:cNvPr id="12" name="Text 10"/>
          <p:cNvSpPr txBox="1"/>
          <p:nvPr/>
        </p:nvSpPr>
        <p:spPr>
          <a:xfrm>
            <a:off x="5614416" y="3977640"/>
            <a:ext cx="2286000" cy="640080"/>
          </a:xfrm>
          <a:prstGeom prst="rect">
            <a:avLst/>
          </a:prstGeom>
          <a:noFill/>
          <a:ln/>
        </p:spPr>
        <p:txBody>
          <a:bodyPr wrap="square" lIns="0" tIns="0" rIns="0" bIns="0" rtlCol="0" anchor="ctr"/>
          <a:lstStyle/>
          <a:p>
            <a:pPr indent="0" marL="0">
              <a:buNone/>
            </a:pPr>
            <a:r>
              <a:rPr lang="en-US" sz="3400" b="1" dirty="0">
                <a:solidFill>
                  <a:srgbClr val="00A896"/>
                </a:solidFill>
                <a:latin typeface="Cambria" pitchFamily="34" charset="0"/>
                <a:ea typeface="Cambria" pitchFamily="34" charset="-122"/>
                <a:cs typeface="Cambria" pitchFamily="34" charset="-120"/>
              </a:rPr>
              <a:t>5 min</a:t>
            </a:r>
            <a:endParaRPr lang="en-US" sz="3400" dirty="0"/>
          </a:p>
        </p:txBody>
      </p:sp>
      <p:sp>
        <p:nvSpPr>
          <p:cNvPr id="13" name="Text 11"/>
          <p:cNvSpPr txBox="1"/>
          <p:nvPr/>
        </p:nvSpPr>
        <p:spPr>
          <a:xfrm>
            <a:off x="5614416" y="4617720"/>
            <a:ext cx="2286000" cy="457200"/>
          </a:xfrm>
          <a:prstGeom prst="rect">
            <a:avLst/>
          </a:prstGeom>
          <a:noFill/>
          <a:ln/>
        </p:spPr>
        <p:txBody>
          <a:bodyPr wrap="square" lIns="0" tIns="0" rIns="0" bIns="0" rtlCol="0" anchor="ctr"/>
          <a:lstStyle/>
          <a:p>
            <a:pPr indent="0" marL="0">
              <a:buNone/>
            </a:pPr>
            <a:r>
              <a:rPr lang="en-US" sz="1300" dirty="0">
                <a:solidFill>
                  <a:srgbClr val="BFD9DB"/>
                </a:solidFill>
                <a:latin typeface="Calibri" pitchFamily="34" charset="0"/>
                <a:ea typeface="Calibri" pitchFamily="34" charset="-122"/>
                <a:cs typeface="Calibri" pitchFamily="34" charset="-120"/>
              </a:rPr>
              <a:t>de presentación (máximo)</a:t>
            </a:r>
            <a:endParaRPr lang="en-US" sz="1300" dirty="0"/>
          </a:p>
        </p:txBody>
      </p:sp>
      <p:sp>
        <p:nvSpPr>
          <p:cNvPr id="14" name="Text 12"/>
          <p:cNvSpPr txBox="1"/>
          <p:nvPr/>
        </p:nvSpPr>
        <p:spPr>
          <a:xfrm>
            <a:off x="8101584" y="3977640"/>
            <a:ext cx="2286000" cy="640080"/>
          </a:xfrm>
          <a:prstGeom prst="rect">
            <a:avLst/>
          </a:prstGeom>
          <a:noFill/>
          <a:ln/>
        </p:spPr>
        <p:txBody>
          <a:bodyPr wrap="square" lIns="0" tIns="0" rIns="0" bIns="0" rtlCol="0" anchor="ctr"/>
          <a:lstStyle/>
          <a:p>
            <a:pPr indent="0" marL="0">
              <a:buNone/>
            </a:pPr>
            <a:r>
              <a:rPr lang="en-US" sz="3400" b="1" dirty="0">
                <a:solidFill>
                  <a:srgbClr val="00A896"/>
                </a:solidFill>
                <a:latin typeface="Cambria" pitchFamily="34" charset="0"/>
                <a:ea typeface="Cambria" pitchFamily="34" charset="-122"/>
                <a:cs typeface="Cambria" pitchFamily="34" charset="-120"/>
              </a:rPr>
              <a:t>4 hrs</a:t>
            </a:r>
            <a:endParaRPr lang="en-US" sz="3400" dirty="0"/>
          </a:p>
        </p:txBody>
      </p:sp>
      <p:sp>
        <p:nvSpPr>
          <p:cNvPr id="15" name="Text 13"/>
          <p:cNvSpPr txBox="1"/>
          <p:nvPr/>
        </p:nvSpPr>
        <p:spPr>
          <a:xfrm>
            <a:off x="8101584" y="4617720"/>
            <a:ext cx="2286000" cy="457200"/>
          </a:xfrm>
          <a:prstGeom prst="rect">
            <a:avLst/>
          </a:prstGeom>
          <a:noFill/>
          <a:ln/>
        </p:spPr>
        <p:txBody>
          <a:bodyPr wrap="square" lIns="0" tIns="0" rIns="0" bIns="0" rtlCol="0" anchor="ctr"/>
          <a:lstStyle/>
          <a:p>
            <a:pPr indent="0" marL="0">
              <a:buNone/>
            </a:pPr>
            <a:r>
              <a:rPr lang="en-US" sz="1300" dirty="0">
                <a:solidFill>
                  <a:srgbClr val="BFD9DB"/>
                </a:solidFill>
                <a:latin typeface="Calibri" pitchFamily="34" charset="0"/>
                <a:ea typeface="Calibri" pitchFamily="34" charset="-122"/>
                <a:cs typeface="Calibri" pitchFamily="34" charset="-120"/>
              </a:rPr>
              <a:t>pedagógicas en aula</a:t>
            </a:r>
            <a:endParaRPr lang="en-US" sz="1300" dirty="0"/>
          </a:p>
        </p:txBody>
      </p:sp>
      <p:sp>
        <p:nvSpPr>
          <p:cNvPr id="16" name="Text 14"/>
          <p:cNvSpPr txBox="1"/>
          <p:nvPr/>
        </p:nvSpPr>
        <p:spPr>
          <a:xfrm>
            <a:off x="640080" y="5897880"/>
            <a:ext cx="8229600" cy="320040"/>
          </a:xfrm>
          <a:prstGeom prst="rect">
            <a:avLst/>
          </a:prstGeom>
          <a:noFill/>
          <a:ln/>
        </p:spPr>
        <p:txBody>
          <a:bodyPr wrap="square" lIns="0" tIns="0" rIns="0" bIns="0" rtlCol="0" anchor="ctr"/>
          <a:lstStyle/>
          <a:p>
            <a:pPr indent="0" marL="0">
              <a:buNone/>
            </a:pPr>
            <a:r>
              <a:rPr lang="en-US" sz="1300" dirty="0">
                <a:solidFill>
                  <a:srgbClr val="8FB3B6"/>
                </a:solidFill>
                <a:latin typeface="Calibri" pitchFamily="34" charset="0"/>
                <a:ea typeface="Calibri" pitchFamily="34" charset="-122"/>
                <a:cs typeface="Calibri" pitchFamily="34" charset="-120"/>
              </a:rPr>
              <a:t>Análisis de una noticia y presentación en equipo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indent="0" marL="0">
              <a:buNone/>
            </a:pPr>
            <a:r>
              <a:rPr lang="en-US" sz="1300" b="1" spc="160" kern="0" dirty="0">
                <a:solidFill>
                  <a:srgbClr val="028090"/>
                </a:solidFill>
                <a:latin typeface="Calibri" pitchFamily="34" charset="0"/>
                <a:ea typeface="Calibri" pitchFamily="34" charset="-122"/>
                <a:cs typeface="Calibri" pitchFamily="34" charset="-120"/>
              </a:rPr>
              <a:t>PANORAMA GENERAL</a:t>
            </a:r>
            <a:endParaRPr lang="en-US" sz="13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6262A"/>
                </a:solidFill>
                <a:latin typeface="Cambria" pitchFamily="34" charset="0"/>
                <a:ea typeface="Cambria" pitchFamily="34" charset="-122"/>
                <a:cs typeface="Cambria" pitchFamily="34" charset="-120"/>
              </a:rPr>
              <a:t>En qué consiste esta evaluación</a:t>
            </a:r>
            <a:endParaRPr lang="en-US" sz="3400" dirty="0"/>
          </a:p>
        </p:txBody>
      </p:sp>
      <p:sp>
        <p:nvSpPr>
          <p:cNvPr id="4" name="Text 2"/>
          <p:cNvSpPr txBox="1"/>
          <p:nvPr/>
        </p:nvSpPr>
        <p:spPr>
          <a:xfrm>
            <a:off x="640080" y="1600200"/>
            <a:ext cx="5486400" cy="1645920"/>
          </a:xfrm>
          <a:prstGeom prst="rect">
            <a:avLst/>
          </a:prstGeom>
          <a:noFill/>
          <a:ln/>
        </p:spPr>
        <p:txBody>
          <a:bodyPr wrap="square" lIns="0" tIns="0" rIns="0" bIns="0" rtlCol="0" anchor="ctr"/>
          <a:lstStyle/>
          <a:p>
            <a:pPr indent="0" marL="0">
              <a:lnSpc>
                <a:spcPts val="2400"/>
              </a:lnSpc>
              <a:buNone/>
            </a:pPr>
            <a:r>
              <a:rPr lang="en-US" sz="1550" dirty="0">
                <a:solidFill>
                  <a:srgbClr val="16262A"/>
                </a:solidFill>
                <a:latin typeface="Calibri" pitchFamily="34" charset="0"/>
                <a:ea typeface="Calibri" pitchFamily="34" charset="-122"/>
                <a:cs typeface="Calibri" pitchFamily="34" charset="-120"/>
              </a:rPr>
              <a:t>La evaluación consiste en el análisis de una noticia y en la presentación de ese análisis, integrando los aprendizajes desarrollados en las actividades 1.1, 1.2 y 1.3. El trabajo se realiza en la sala de clases, en equipos de hasta tres integrantes, durante las semanas 4 y 5.</a:t>
            </a:r>
            <a:endParaRPr lang="en-US" sz="1550" dirty="0"/>
          </a:p>
        </p:txBody>
      </p:sp>
      <p:sp>
        <p:nvSpPr>
          <p:cNvPr id="5" name="Shape 3"/>
          <p:cNvSpPr/>
          <p:nvPr/>
        </p:nvSpPr>
        <p:spPr>
          <a:xfrm>
            <a:off x="640080" y="3429000"/>
            <a:ext cx="5486400" cy="2377440"/>
          </a:xfrm>
          <a:prstGeom prst="roundRect">
            <a:avLst>
              <a:gd name="adj" fmla="val 4615"/>
            </a:avLst>
          </a:prstGeom>
          <a:solidFill>
            <a:srgbClr val="EAF4F4"/>
          </a:solidFill>
          <a:ln/>
        </p:spPr>
      </p:sp>
      <p:sp>
        <p:nvSpPr>
          <p:cNvPr id="6" name="Text 4"/>
          <p:cNvSpPr txBox="1"/>
          <p:nvPr/>
        </p:nvSpPr>
        <p:spPr>
          <a:xfrm>
            <a:off x="960120" y="3639312"/>
            <a:ext cx="4846320" cy="320040"/>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Dos etapas</a:t>
            </a:r>
            <a:endParaRPr lang="en-US" sz="1700" dirty="0"/>
          </a:p>
        </p:txBody>
      </p:sp>
      <p:sp>
        <p:nvSpPr>
          <p:cNvPr id="7" name="Shape 5"/>
          <p:cNvSpPr/>
          <p:nvPr/>
        </p:nvSpPr>
        <p:spPr>
          <a:xfrm>
            <a:off x="960120" y="4114800"/>
            <a:ext cx="384048" cy="384048"/>
          </a:xfrm>
          <a:prstGeom prst="ellipse">
            <a:avLst/>
          </a:prstGeom>
          <a:solidFill>
            <a:srgbClr val="028090"/>
          </a:solidFill>
          <a:ln/>
        </p:spPr>
      </p:sp>
      <p:sp>
        <p:nvSpPr>
          <p:cNvPr id="8" name="Text 6"/>
          <p:cNvSpPr txBox="1"/>
          <p:nvPr/>
        </p:nvSpPr>
        <p:spPr>
          <a:xfrm>
            <a:off x="960120" y="4114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1508760" y="4069080"/>
            <a:ext cx="4480560" cy="274320"/>
          </a:xfrm>
          <a:prstGeom prst="rect">
            <a:avLst/>
          </a:prstGeom>
          <a:noFill/>
          <a:ln/>
        </p:spPr>
        <p:txBody>
          <a:bodyPr wrap="square" lIns="0" tIns="0" rIns="0" bIns="0" rtlCol="0" anchor="ctr"/>
          <a:lstStyle/>
          <a:p>
            <a:pPr indent="0" marL="0">
              <a:buNone/>
            </a:pPr>
            <a:r>
              <a:rPr lang="en-US" sz="1450" b="1" dirty="0">
                <a:solidFill>
                  <a:srgbClr val="16262A"/>
                </a:solidFill>
                <a:latin typeface="Calibri" pitchFamily="34" charset="0"/>
                <a:ea typeface="Calibri" pitchFamily="34" charset="-122"/>
                <a:cs typeface="Calibri" pitchFamily="34" charset="-120"/>
              </a:rPr>
              <a:t>Semana 4</a:t>
            </a:r>
            <a:endParaRPr lang="en-US" sz="1450" dirty="0"/>
          </a:p>
        </p:txBody>
      </p:sp>
      <p:sp>
        <p:nvSpPr>
          <p:cNvPr id="10" name="Text 8"/>
          <p:cNvSpPr txBox="1"/>
          <p:nvPr/>
        </p:nvSpPr>
        <p:spPr>
          <a:xfrm>
            <a:off x="1508760" y="4334256"/>
            <a:ext cx="4480560" cy="320040"/>
          </a:xfrm>
          <a:prstGeom prst="rect">
            <a:avLst/>
          </a:prstGeom>
          <a:noFill/>
          <a:ln/>
        </p:spPr>
        <p:txBody>
          <a:bodyPr wrap="square" lIns="0" tIns="0" rIns="0" bIns="0" rtlCol="0" anchor="ctr"/>
          <a:lstStyle/>
          <a:p>
            <a:pPr indent="0" marL="0">
              <a:buNone/>
            </a:pPr>
            <a:r>
              <a:rPr lang="en-US" sz="1350" dirty="0">
                <a:solidFill>
                  <a:srgbClr val="5A6B70"/>
                </a:solidFill>
                <a:latin typeface="Calibri" pitchFamily="34" charset="0"/>
                <a:ea typeface="Calibri" pitchFamily="34" charset="-122"/>
                <a:cs typeface="Calibri" pitchFamily="34" charset="-120"/>
              </a:rPr>
              <a:t>Preparación: selección y análisis de la noticia.</a:t>
            </a:r>
            <a:endParaRPr lang="en-US" sz="1350" dirty="0"/>
          </a:p>
        </p:txBody>
      </p:sp>
      <p:sp>
        <p:nvSpPr>
          <p:cNvPr id="11" name="Shape 9"/>
          <p:cNvSpPr/>
          <p:nvPr/>
        </p:nvSpPr>
        <p:spPr>
          <a:xfrm>
            <a:off x="960120" y="4892040"/>
            <a:ext cx="384048" cy="384048"/>
          </a:xfrm>
          <a:prstGeom prst="ellipse">
            <a:avLst/>
          </a:prstGeom>
          <a:solidFill>
            <a:srgbClr val="028090"/>
          </a:solidFill>
          <a:ln/>
        </p:spPr>
      </p:sp>
      <p:sp>
        <p:nvSpPr>
          <p:cNvPr id="12" name="Text 10"/>
          <p:cNvSpPr txBox="1"/>
          <p:nvPr/>
        </p:nvSpPr>
        <p:spPr>
          <a:xfrm>
            <a:off x="960120" y="4892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508760" y="4846320"/>
            <a:ext cx="4480560" cy="274320"/>
          </a:xfrm>
          <a:prstGeom prst="rect">
            <a:avLst/>
          </a:prstGeom>
          <a:noFill/>
          <a:ln/>
        </p:spPr>
        <p:txBody>
          <a:bodyPr wrap="square" lIns="0" tIns="0" rIns="0" bIns="0" rtlCol="0" anchor="ctr"/>
          <a:lstStyle/>
          <a:p>
            <a:pPr indent="0" marL="0">
              <a:buNone/>
            </a:pPr>
            <a:r>
              <a:rPr lang="en-US" sz="1450" b="1" dirty="0">
                <a:solidFill>
                  <a:srgbClr val="16262A"/>
                </a:solidFill>
                <a:latin typeface="Calibri" pitchFamily="34" charset="0"/>
                <a:ea typeface="Calibri" pitchFamily="34" charset="-122"/>
                <a:cs typeface="Calibri" pitchFamily="34" charset="-120"/>
              </a:rPr>
              <a:t>Semana 5</a:t>
            </a:r>
            <a:endParaRPr lang="en-US" sz="1450" dirty="0"/>
          </a:p>
        </p:txBody>
      </p:sp>
      <p:sp>
        <p:nvSpPr>
          <p:cNvPr id="14" name="Text 12"/>
          <p:cNvSpPr txBox="1"/>
          <p:nvPr/>
        </p:nvSpPr>
        <p:spPr>
          <a:xfrm>
            <a:off x="1508760" y="5111496"/>
            <a:ext cx="4480560" cy="320040"/>
          </a:xfrm>
          <a:prstGeom prst="rect">
            <a:avLst/>
          </a:prstGeom>
          <a:noFill/>
          <a:ln/>
        </p:spPr>
        <p:txBody>
          <a:bodyPr wrap="square" lIns="0" tIns="0" rIns="0" bIns="0" rtlCol="0" anchor="ctr"/>
          <a:lstStyle/>
          <a:p>
            <a:pPr indent="0" marL="0">
              <a:buNone/>
            </a:pPr>
            <a:r>
              <a:rPr lang="en-US" sz="1350" dirty="0">
                <a:solidFill>
                  <a:srgbClr val="5A6B70"/>
                </a:solidFill>
                <a:latin typeface="Calibri" pitchFamily="34" charset="0"/>
                <a:ea typeface="Calibri" pitchFamily="34" charset="-122"/>
                <a:cs typeface="Calibri" pitchFamily="34" charset="-120"/>
              </a:rPr>
              <a:t>Presentación oral y ronda de preguntas individuales.</a:t>
            </a:r>
            <a:endParaRPr lang="en-US" sz="1350" dirty="0"/>
          </a:p>
        </p:txBody>
      </p:sp>
      <p:sp>
        <p:nvSpPr>
          <p:cNvPr id="15" name="Shape 13"/>
          <p:cNvSpPr/>
          <p:nvPr/>
        </p:nvSpPr>
        <p:spPr>
          <a:xfrm>
            <a:off x="6583680" y="1600200"/>
            <a:ext cx="4965192" cy="4206240"/>
          </a:xfrm>
          <a:prstGeom prst="roundRect">
            <a:avLst>
              <a:gd name="adj" fmla="val 2609"/>
            </a:avLst>
          </a:prstGeom>
          <a:solidFill>
            <a:srgbClr val="05323B"/>
          </a:solidFill>
          <a:ln/>
        </p:spPr>
      </p:sp>
      <p:sp>
        <p:nvSpPr>
          <p:cNvPr id="16" name="Text 14"/>
          <p:cNvSpPr txBox="1"/>
          <p:nvPr/>
        </p:nvSpPr>
        <p:spPr>
          <a:xfrm>
            <a:off x="6903720" y="1874520"/>
            <a:ext cx="43891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Qué se busca evaluar</a:t>
            </a:r>
            <a:endParaRPr lang="en-US" sz="1900" dirty="0"/>
          </a:p>
        </p:txBody>
      </p:sp>
      <p:sp>
        <p:nvSpPr>
          <p:cNvPr id="17" name="Text 15"/>
          <p:cNvSpPr txBox="1"/>
          <p:nvPr/>
        </p:nvSpPr>
        <p:spPr>
          <a:xfrm>
            <a:off x="6903720" y="2423160"/>
            <a:ext cx="1097280" cy="292608"/>
          </a:xfrm>
          <a:prstGeom prst="rect">
            <a:avLst/>
          </a:prstGeom>
          <a:noFill/>
          <a:ln/>
        </p:spPr>
        <p:txBody>
          <a:bodyPr wrap="square" lIns="0" tIns="0" rIns="0" bIns="0" rtlCol="0" anchor="ctr"/>
          <a:lstStyle/>
          <a:p>
            <a:pPr indent="0" marL="0">
              <a:buNone/>
            </a:pPr>
            <a:r>
              <a:rPr lang="en-US" sz="1400" b="1" spc="100" kern="0" dirty="0">
                <a:solidFill>
                  <a:srgbClr val="02C39A"/>
                </a:solidFill>
                <a:latin typeface="Calibri" pitchFamily="34" charset="0"/>
                <a:ea typeface="Calibri" pitchFamily="34" charset="-122"/>
                <a:cs typeface="Calibri" pitchFamily="34" charset="-120"/>
              </a:rPr>
              <a:t>IL 1.1</a:t>
            </a:r>
            <a:endParaRPr lang="en-US" sz="1400" dirty="0"/>
          </a:p>
        </p:txBody>
      </p:sp>
      <p:sp>
        <p:nvSpPr>
          <p:cNvPr id="18" name="Text 16"/>
          <p:cNvSpPr txBox="1"/>
          <p:nvPr/>
        </p:nvSpPr>
        <p:spPr>
          <a:xfrm>
            <a:off x="6903720" y="2752344"/>
            <a:ext cx="4343400" cy="1234440"/>
          </a:xfrm>
          <a:prstGeom prst="rect">
            <a:avLst/>
          </a:prstGeom>
          <a:noFill/>
          <a:ln/>
        </p:spPr>
        <p:txBody>
          <a:bodyPr wrap="square" lIns="0" tIns="0" rIns="0" bIns="0" rtlCol="0" anchor="ctr"/>
          <a:lstStyle/>
          <a:p>
            <a:pPr indent="0" marL="0">
              <a:lnSpc>
                <a:spcPts val="2000"/>
              </a:lnSpc>
              <a:buNone/>
            </a:pPr>
            <a:r>
              <a:rPr lang="en-US" sz="1350" dirty="0">
                <a:solidFill>
                  <a:srgbClr val="D6E6E7"/>
                </a:solidFill>
                <a:latin typeface="Calibri" pitchFamily="34" charset="0"/>
                <a:ea typeface="Calibri" pitchFamily="34" charset="-122"/>
                <a:cs typeface="Calibri" pitchFamily="34" charset="-120"/>
              </a:rPr>
              <a:t>Identifica los aspectos éticos de un profesional de excelencia en situaciones del ejercicio profesional, para aportar a la sociedad, de acuerdo con una ética laboral centrada en la persona.</a:t>
            </a:r>
            <a:endParaRPr lang="en-US" sz="1350" dirty="0"/>
          </a:p>
        </p:txBody>
      </p:sp>
      <p:sp>
        <p:nvSpPr>
          <p:cNvPr id="19" name="Text 17"/>
          <p:cNvSpPr txBox="1"/>
          <p:nvPr/>
        </p:nvSpPr>
        <p:spPr>
          <a:xfrm>
            <a:off x="6903720" y="4114800"/>
            <a:ext cx="1097280" cy="292608"/>
          </a:xfrm>
          <a:prstGeom prst="rect">
            <a:avLst/>
          </a:prstGeom>
          <a:noFill/>
          <a:ln/>
        </p:spPr>
        <p:txBody>
          <a:bodyPr wrap="square" lIns="0" tIns="0" rIns="0" bIns="0" rtlCol="0" anchor="ctr"/>
          <a:lstStyle/>
          <a:p>
            <a:pPr indent="0" marL="0">
              <a:buNone/>
            </a:pPr>
            <a:r>
              <a:rPr lang="en-US" sz="1400" b="1" spc="100" kern="0" dirty="0">
                <a:solidFill>
                  <a:srgbClr val="02C39A"/>
                </a:solidFill>
                <a:latin typeface="Calibri" pitchFamily="34" charset="0"/>
                <a:ea typeface="Calibri" pitchFamily="34" charset="-122"/>
                <a:cs typeface="Calibri" pitchFamily="34" charset="-120"/>
              </a:rPr>
              <a:t>IL 1.2</a:t>
            </a:r>
            <a:endParaRPr lang="en-US" sz="1400" dirty="0"/>
          </a:p>
        </p:txBody>
      </p:sp>
      <p:sp>
        <p:nvSpPr>
          <p:cNvPr id="20" name="Text 18"/>
          <p:cNvSpPr txBox="1"/>
          <p:nvPr/>
        </p:nvSpPr>
        <p:spPr>
          <a:xfrm>
            <a:off x="6903720" y="4443984"/>
            <a:ext cx="4343400" cy="1234440"/>
          </a:xfrm>
          <a:prstGeom prst="rect">
            <a:avLst/>
          </a:prstGeom>
          <a:noFill/>
          <a:ln/>
        </p:spPr>
        <p:txBody>
          <a:bodyPr wrap="square" lIns="0" tIns="0" rIns="0" bIns="0" rtlCol="0" anchor="ctr"/>
          <a:lstStyle/>
          <a:p>
            <a:pPr indent="0" marL="0">
              <a:lnSpc>
                <a:spcPts val="2000"/>
              </a:lnSpc>
              <a:buNone/>
            </a:pPr>
            <a:r>
              <a:rPr lang="en-US" sz="1350" dirty="0">
                <a:solidFill>
                  <a:srgbClr val="D6E6E7"/>
                </a:solidFill>
                <a:latin typeface="Calibri" pitchFamily="34" charset="0"/>
                <a:ea typeface="Calibri" pitchFamily="34" charset="-122"/>
                <a:cs typeface="Calibri" pitchFamily="34" charset="-120"/>
              </a:rPr>
              <a:t>Explica las virtudes humanas relacionadas con la excelencia profesional, considerando su impacto en el desarrollo de la consciencia y el carácter.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indent="0" marL="0">
              <a:buNone/>
            </a:pPr>
            <a:r>
              <a:rPr lang="en-US" sz="1300" b="1" spc="160" kern="0" dirty="0">
                <a:solidFill>
                  <a:srgbClr val="028090"/>
                </a:solidFill>
                <a:latin typeface="Calibri" pitchFamily="34" charset="0"/>
                <a:ea typeface="Calibri" pitchFamily="34" charset="-122"/>
                <a:cs typeface="Calibri" pitchFamily="34" charset="-120"/>
              </a:rPr>
              <a:t>SEMANA 4  |  PRIMERA ETAPA</a:t>
            </a:r>
            <a:endParaRPr lang="en-US" sz="13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6262A"/>
                </a:solidFill>
                <a:latin typeface="Cambria" pitchFamily="34" charset="0"/>
                <a:ea typeface="Cambria" pitchFamily="34" charset="-122"/>
                <a:cs typeface="Cambria" pitchFamily="34" charset="-120"/>
              </a:rPr>
              <a:t>Preparación del trabajo</a:t>
            </a:r>
            <a:endParaRPr lang="en-US" sz="3400" dirty="0"/>
          </a:p>
        </p:txBody>
      </p:sp>
      <p:sp>
        <p:nvSpPr>
          <p:cNvPr id="4" name="Text 2"/>
          <p:cNvSpPr txBox="1"/>
          <p:nvPr/>
        </p:nvSpPr>
        <p:spPr>
          <a:xfrm>
            <a:off x="640080" y="1645920"/>
            <a:ext cx="5943600" cy="2103120"/>
          </a:xfrm>
          <a:prstGeom prst="rect">
            <a:avLst/>
          </a:prstGeom>
          <a:noFill/>
          <a:ln/>
        </p:spPr>
        <p:txBody>
          <a:bodyPr wrap="square" lIns="0" tIns="0" rIns="0" bIns="0" rtlCol="0" anchor="ctr"/>
          <a:lstStyle/>
          <a:p>
            <a:pPr indent="0" marL="0">
              <a:lnSpc>
                <a:spcPts val="2500"/>
              </a:lnSpc>
              <a:buNone/>
            </a:pPr>
            <a:r>
              <a:rPr lang="en-US" sz="1550" dirty="0">
                <a:solidFill>
                  <a:srgbClr val="16262A"/>
                </a:solidFill>
                <a:latin typeface="Calibri" pitchFamily="34" charset="0"/>
                <a:ea typeface="Calibri" pitchFamily="34" charset="-122"/>
                <a:cs typeface="Calibri" pitchFamily="34" charset="-120"/>
              </a:rPr>
              <a:t>Organizados en grupos de hasta tres personas, deberán seleccionar una noticia actual relacionada con su futura profesión o área disciplinar y relacionarla con una actividad de la experiencia de aprendizaje 1. Luego analizarán los aspectos éticos presentes en la noticia, vinculándolos con los conceptos trabajados en esa experiencia de aprendizaje, para finalmente presentar el análisis en un máximo de cinco minutos.</a:t>
            </a:r>
            <a:endParaRPr lang="en-US" sz="1550" dirty="0"/>
          </a:p>
        </p:txBody>
      </p:sp>
      <p:sp>
        <p:nvSpPr>
          <p:cNvPr id="5" name="Shape 3"/>
          <p:cNvSpPr/>
          <p:nvPr/>
        </p:nvSpPr>
        <p:spPr>
          <a:xfrm>
            <a:off x="640080" y="3977640"/>
            <a:ext cx="5943600" cy="1600200"/>
          </a:xfrm>
          <a:prstGeom prst="roundRect">
            <a:avLst>
              <a:gd name="adj" fmla="val 6857"/>
            </a:avLst>
          </a:prstGeom>
          <a:solidFill>
            <a:srgbClr val="EAF4F4"/>
          </a:solidFill>
          <a:ln/>
        </p:spPr>
      </p:sp>
      <p:sp>
        <p:nvSpPr>
          <p:cNvPr id="6" name="Text 4"/>
          <p:cNvSpPr txBox="1"/>
          <p:nvPr/>
        </p:nvSpPr>
        <p:spPr>
          <a:xfrm>
            <a:off x="960120" y="4187952"/>
            <a:ext cx="5303520" cy="29260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Recuerden</a:t>
            </a:r>
            <a:endParaRPr lang="en-US" sz="1600" dirty="0"/>
          </a:p>
        </p:txBody>
      </p:sp>
      <p:sp>
        <p:nvSpPr>
          <p:cNvPr id="7" name="Text 5"/>
          <p:cNvSpPr txBox="1"/>
          <p:nvPr/>
        </p:nvSpPr>
        <p:spPr>
          <a:xfrm>
            <a:off x="960120" y="4526280"/>
            <a:ext cx="5303520" cy="914400"/>
          </a:xfrm>
          <a:prstGeom prst="rect">
            <a:avLst/>
          </a:prstGeom>
          <a:noFill/>
          <a:ln/>
        </p:spPr>
        <p:txBody>
          <a:bodyPr wrap="square" lIns="0" tIns="0" rIns="0" bIns="0" rtlCol="0" anchor="ctr"/>
          <a:lstStyle/>
          <a:p>
            <a:pPr marL="342900" indent="-342900">
              <a:lnSpc>
                <a:spcPts val="1800"/>
              </a:lnSpc>
              <a:spcAft>
                <a:spcPts val="600"/>
              </a:spcAft>
              <a:buSzPct val="100000"/>
              <a:buChar char="•"/>
            </a:pPr>
            <a:r>
              <a:rPr lang="en-US" sz="1350" dirty="0">
                <a:solidFill>
                  <a:srgbClr val="16262A"/>
                </a:solidFill>
                <a:latin typeface="Calibri" pitchFamily="34" charset="0"/>
                <a:ea typeface="Calibri" pitchFamily="34" charset="-122"/>
                <a:cs typeface="Calibri" pitchFamily="34" charset="-120"/>
              </a:rPr>
              <a:t>Pueden usar inteligencia artificial como apoyo, siempre que no más del 50% del contenido provenga directamente de IA o de trabajos de sus compañeros.</a:t>
            </a:r>
            <a:endParaRPr lang="en-US" sz="1350" dirty="0"/>
          </a:p>
          <a:p>
            <a:pPr marL="342900" indent="-342900">
              <a:lnSpc>
                <a:spcPts val="1800"/>
              </a:lnSpc>
              <a:spcAft>
                <a:spcPts val="600"/>
              </a:spcAft>
              <a:buSzPct val="100000"/>
              <a:buChar char="•"/>
            </a:pPr>
            <a:r>
              <a:rPr lang="en-US" sz="1350" dirty="0">
                <a:solidFill>
                  <a:srgbClr val="16262A"/>
                </a:solidFill>
                <a:latin typeface="Calibri" pitchFamily="34" charset="0"/>
                <a:ea typeface="Calibri" pitchFamily="34" charset="-122"/>
                <a:cs typeface="Calibri" pitchFamily="34" charset="-120"/>
              </a:rPr>
              <a:t>Completen la hoja de respuesta como apoyo de la información.</a:t>
            </a:r>
            <a:endParaRPr lang="en-US" sz="1350" dirty="0"/>
          </a:p>
        </p:txBody>
      </p:sp>
      <p:sp>
        <p:nvSpPr>
          <p:cNvPr id="8" name="Shape 6"/>
          <p:cNvSpPr/>
          <p:nvPr/>
        </p:nvSpPr>
        <p:spPr>
          <a:xfrm>
            <a:off x="6949440" y="1645920"/>
            <a:ext cx="4599432" cy="3931920"/>
          </a:xfrm>
          <a:prstGeom prst="roundRect">
            <a:avLst>
              <a:gd name="adj" fmla="val 2791"/>
            </a:avLst>
          </a:prstGeom>
          <a:solidFill>
            <a:srgbClr val="05323B"/>
          </a:solidFill>
          <a:ln/>
        </p:spPr>
      </p:sp>
      <p:sp>
        <p:nvSpPr>
          <p:cNvPr id="9" name="Text 7"/>
          <p:cNvSpPr txBox="1"/>
          <p:nvPr/>
        </p:nvSpPr>
        <p:spPr>
          <a:xfrm>
            <a:off x="7269480" y="1920240"/>
            <a:ext cx="402336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La noticia</a:t>
            </a:r>
            <a:endParaRPr lang="en-US" sz="2000" dirty="0"/>
          </a:p>
        </p:txBody>
      </p:sp>
      <p:sp>
        <p:nvSpPr>
          <p:cNvPr id="10" name="Text 8"/>
          <p:cNvSpPr txBox="1"/>
          <p:nvPr/>
        </p:nvSpPr>
        <p:spPr>
          <a:xfrm>
            <a:off x="7269480" y="2377440"/>
            <a:ext cx="4023360" cy="594360"/>
          </a:xfrm>
          <a:prstGeom prst="rect">
            <a:avLst/>
          </a:prstGeom>
          <a:noFill/>
          <a:ln/>
        </p:spPr>
        <p:txBody>
          <a:bodyPr wrap="square" lIns="0" tIns="0" rIns="0" bIns="0" rtlCol="0" anchor="ctr"/>
          <a:lstStyle/>
          <a:p>
            <a:pPr indent="0" marL="0">
              <a:buNone/>
            </a:pPr>
            <a:r>
              <a:rPr lang="en-US" sz="3000" b="1" dirty="0">
                <a:solidFill>
                  <a:srgbClr val="02C39A"/>
                </a:solidFill>
                <a:latin typeface="Cambria" pitchFamily="34" charset="0"/>
                <a:ea typeface="Cambria" pitchFamily="34" charset="-122"/>
                <a:cs typeface="Cambria" pitchFamily="34" charset="-120"/>
              </a:rPr>
              <a:t>Máx. 5 años</a:t>
            </a:r>
            <a:endParaRPr lang="en-US" sz="3000" dirty="0"/>
          </a:p>
        </p:txBody>
      </p:sp>
      <p:sp>
        <p:nvSpPr>
          <p:cNvPr id="11" name="Text 9"/>
          <p:cNvSpPr txBox="1"/>
          <p:nvPr/>
        </p:nvSpPr>
        <p:spPr>
          <a:xfrm>
            <a:off x="7269480" y="2944368"/>
            <a:ext cx="4023360" cy="274320"/>
          </a:xfrm>
          <a:prstGeom prst="rect">
            <a:avLst/>
          </a:prstGeom>
          <a:noFill/>
          <a:ln/>
        </p:spPr>
        <p:txBody>
          <a:bodyPr wrap="square" lIns="0" tIns="0" rIns="0" bIns="0" rtlCol="0" anchor="ctr"/>
          <a:lstStyle/>
          <a:p>
            <a:pPr indent="0" marL="0">
              <a:buNone/>
            </a:pPr>
            <a:r>
              <a:rPr lang="en-US" sz="1300" dirty="0">
                <a:solidFill>
                  <a:srgbClr val="9EC0C2"/>
                </a:solidFill>
                <a:latin typeface="Calibri" pitchFamily="34" charset="0"/>
                <a:ea typeface="Calibri" pitchFamily="34" charset="-122"/>
                <a:cs typeface="Calibri" pitchFamily="34" charset="-120"/>
              </a:rPr>
              <a:t>de antigüedad</a:t>
            </a:r>
            <a:endParaRPr lang="en-US" sz="1300" dirty="0"/>
          </a:p>
        </p:txBody>
      </p:sp>
      <p:sp>
        <p:nvSpPr>
          <p:cNvPr id="12" name="Shape 10"/>
          <p:cNvSpPr/>
          <p:nvPr/>
        </p:nvSpPr>
        <p:spPr>
          <a:xfrm>
            <a:off x="7269480" y="3602736"/>
            <a:ext cx="128016" cy="128016"/>
          </a:xfrm>
          <a:prstGeom prst="ellipse">
            <a:avLst/>
          </a:prstGeom>
          <a:solidFill>
            <a:srgbClr val="00A896"/>
          </a:solidFill>
          <a:ln/>
        </p:spPr>
      </p:sp>
      <p:sp>
        <p:nvSpPr>
          <p:cNvPr id="13" name="Text 11"/>
          <p:cNvSpPr txBox="1"/>
          <p:nvPr/>
        </p:nvSpPr>
        <p:spPr>
          <a:xfrm>
            <a:off x="7571232" y="3429000"/>
            <a:ext cx="3703320" cy="548640"/>
          </a:xfrm>
          <a:prstGeom prst="rect">
            <a:avLst/>
          </a:prstGeom>
          <a:noFill/>
          <a:ln/>
        </p:spPr>
        <p:txBody>
          <a:bodyPr wrap="square" lIns="0" tIns="0" rIns="0" bIns="0" rtlCol="0" anchor="ctr"/>
          <a:lstStyle/>
          <a:p>
            <a:pPr indent="0" marL="0">
              <a:lnSpc>
                <a:spcPts val="1800"/>
              </a:lnSpc>
              <a:buNone/>
            </a:pPr>
            <a:r>
              <a:rPr lang="en-US" sz="1350" dirty="0">
                <a:solidFill>
                  <a:srgbClr val="D6E6E7"/>
                </a:solidFill>
                <a:latin typeface="Calibri" pitchFamily="34" charset="0"/>
                <a:ea typeface="Calibri" pitchFamily="34" charset="-122"/>
                <a:cs typeface="Calibri" pitchFamily="34" charset="-120"/>
              </a:rPr>
              <a:t>Actual y verificable.</a:t>
            </a:r>
            <a:endParaRPr lang="en-US" sz="1350" dirty="0"/>
          </a:p>
        </p:txBody>
      </p:sp>
      <p:sp>
        <p:nvSpPr>
          <p:cNvPr id="14" name="Shape 12"/>
          <p:cNvSpPr/>
          <p:nvPr/>
        </p:nvSpPr>
        <p:spPr>
          <a:xfrm>
            <a:off x="7269480" y="4261104"/>
            <a:ext cx="128016" cy="128016"/>
          </a:xfrm>
          <a:prstGeom prst="ellipse">
            <a:avLst/>
          </a:prstGeom>
          <a:solidFill>
            <a:srgbClr val="00A896"/>
          </a:solidFill>
          <a:ln/>
        </p:spPr>
      </p:sp>
      <p:sp>
        <p:nvSpPr>
          <p:cNvPr id="15" name="Text 13"/>
          <p:cNvSpPr txBox="1"/>
          <p:nvPr/>
        </p:nvSpPr>
        <p:spPr>
          <a:xfrm>
            <a:off x="7571232" y="4087368"/>
            <a:ext cx="3703320" cy="548640"/>
          </a:xfrm>
          <a:prstGeom prst="rect">
            <a:avLst/>
          </a:prstGeom>
          <a:noFill/>
          <a:ln/>
        </p:spPr>
        <p:txBody>
          <a:bodyPr wrap="square" lIns="0" tIns="0" rIns="0" bIns="0" rtlCol="0" anchor="ctr"/>
          <a:lstStyle/>
          <a:p>
            <a:pPr indent="0" marL="0">
              <a:lnSpc>
                <a:spcPts val="1800"/>
              </a:lnSpc>
              <a:buNone/>
            </a:pPr>
            <a:r>
              <a:rPr lang="en-US" sz="1350" dirty="0">
                <a:solidFill>
                  <a:srgbClr val="D6E6E7"/>
                </a:solidFill>
                <a:latin typeface="Calibri" pitchFamily="34" charset="0"/>
                <a:ea typeface="Calibri" pitchFamily="34" charset="-122"/>
                <a:cs typeface="Calibri" pitchFamily="34" charset="-120"/>
              </a:rPr>
              <a:t>Relacionada con su futura profesión o un área similar.</a:t>
            </a:r>
            <a:endParaRPr lang="en-US" sz="1350" dirty="0"/>
          </a:p>
        </p:txBody>
      </p:sp>
      <p:sp>
        <p:nvSpPr>
          <p:cNvPr id="16" name="Shape 14"/>
          <p:cNvSpPr/>
          <p:nvPr/>
        </p:nvSpPr>
        <p:spPr>
          <a:xfrm>
            <a:off x="7269480" y="4919472"/>
            <a:ext cx="128016" cy="128016"/>
          </a:xfrm>
          <a:prstGeom prst="ellipse">
            <a:avLst/>
          </a:prstGeom>
          <a:solidFill>
            <a:srgbClr val="00A896"/>
          </a:solidFill>
          <a:ln/>
        </p:spPr>
      </p:sp>
      <p:sp>
        <p:nvSpPr>
          <p:cNvPr id="17" name="Text 15"/>
          <p:cNvSpPr txBox="1"/>
          <p:nvPr/>
        </p:nvSpPr>
        <p:spPr>
          <a:xfrm>
            <a:off x="7571232" y="4745736"/>
            <a:ext cx="3703320" cy="548640"/>
          </a:xfrm>
          <a:prstGeom prst="rect">
            <a:avLst/>
          </a:prstGeom>
          <a:noFill/>
          <a:ln/>
        </p:spPr>
        <p:txBody>
          <a:bodyPr wrap="square" lIns="0" tIns="0" rIns="0" bIns="0" rtlCol="0" anchor="ctr"/>
          <a:lstStyle/>
          <a:p>
            <a:pPr indent="0" marL="0">
              <a:lnSpc>
                <a:spcPts val="1800"/>
              </a:lnSpc>
              <a:buNone/>
            </a:pPr>
            <a:r>
              <a:rPr lang="en-US" sz="1350" dirty="0">
                <a:solidFill>
                  <a:srgbClr val="D6E6E7"/>
                </a:solidFill>
                <a:latin typeface="Calibri" pitchFamily="34" charset="0"/>
                <a:ea typeface="Calibri" pitchFamily="34" charset="-122"/>
                <a:cs typeface="Calibri" pitchFamily="34" charset="-120"/>
              </a:rPr>
              <a:t>Vinculada a una actividad de la experiencia de aprendizaje 1.</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indent="0" marL="0">
              <a:buNone/>
            </a:pPr>
            <a:r>
              <a:rPr lang="en-US" sz="1300" b="1" spc="160" kern="0" dirty="0">
                <a:solidFill>
                  <a:srgbClr val="028090"/>
                </a:solidFill>
                <a:latin typeface="Calibri" pitchFamily="34" charset="0"/>
                <a:ea typeface="Calibri" pitchFamily="34" charset="-122"/>
                <a:cs typeface="Calibri" pitchFamily="34" charset="-120"/>
              </a:rPr>
              <a:t>SEMANA 4  |  RUTA DE TRABAJO</a:t>
            </a:r>
            <a:endParaRPr lang="en-US" sz="13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6262A"/>
                </a:solidFill>
                <a:latin typeface="Cambria" pitchFamily="34" charset="0"/>
                <a:ea typeface="Cambria" pitchFamily="34" charset="-122"/>
                <a:cs typeface="Cambria" pitchFamily="34" charset="-120"/>
              </a:rPr>
              <a:t>Cinco pasos para llegar preparados</a:t>
            </a:r>
            <a:endParaRPr lang="en-US" sz="3400" dirty="0"/>
          </a:p>
        </p:txBody>
      </p:sp>
      <p:sp>
        <p:nvSpPr>
          <p:cNvPr id="4" name="Shape 2"/>
          <p:cNvSpPr/>
          <p:nvPr/>
        </p:nvSpPr>
        <p:spPr>
          <a:xfrm>
            <a:off x="640080" y="1920240"/>
            <a:ext cx="2029968" cy="3246120"/>
          </a:xfrm>
          <a:prstGeom prst="roundRect">
            <a:avLst>
              <a:gd name="adj" fmla="val 4505"/>
            </a:avLst>
          </a:prstGeom>
          <a:solidFill>
            <a:srgbClr val="EAF4F4"/>
          </a:solidFill>
          <a:ln/>
        </p:spPr>
      </p:sp>
      <p:sp>
        <p:nvSpPr>
          <p:cNvPr id="5" name="Shape 3"/>
          <p:cNvSpPr/>
          <p:nvPr/>
        </p:nvSpPr>
        <p:spPr>
          <a:xfrm>
            <a:off x="960120" y="2194560"/>
            <a:ext cx="457200" cy="457200"/>
          </a:xfrm>
          <a:prstGeom prst="ellipse">
            <a:avLst/>
          </a:prstGeom>
          <a:solidFill>
            <a:srgbClr val="028090"/>
          </a:solidFill>
          <a:ln/>
        </p:spPr>
      </p:sp>
      <p:sp>
        <p:nvSpPr>
          <p:cNvPr id="6" name="Text 4"/>
          <p:cNvSpPr txBox="1"/>
          <p:nvPr/>
        </p:nvSpPr>
        <p:spPr>
          <a:xfrm>
            <a:off x="960120" y="21945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914400" y="2834640"/>
            <a:ext cx="1481328" cy="548640"/>
          </a:xfrm>
          <a:prstGeom prst="rect">
            <a:avLst/>
          </a:prstGeom>
          <a:noFill/>
          <a:ln/>
        </p:spPr>
        <p:txBody>
          <a:bodyPr wrap="square" lIns="0" tIns="0" rIns="0" bIns="0" rtlCol="0" anchor="ctr"/>
          <a:lstStyle/>
          <a:p>
            <a:pPr indent="0" marL="0">
              <a:buNone/>
            </a:pPr>
            <a:r>
              <a:rPr lang="en-US" sz="1550" b="1" dirty="0">
                <a:solidFill>
                  <a:srgbClr val="16262A"/>
                </a:solidFill>
                <a:latin typeface="Cambria" pitchFamily="34" charset="0"/>
                <a:ea typeface="Cambria" pitchFamily="34" charset="-122"/>
                <a:cs typeface="Cambria" pitchFamily="34" charset="-120"/>
              </a:rPr>
              <a:t>Elegir la noticia</a:t>
            </a:r>
            <a:endParaRPr lang="en-US" sz="1550" dirty="0"/>
          </a:p>
        </p:txBody>
      </p:sp>
      <p:sp>
        <p:nvSpPr>
          <p:cNvPr id="8" name="Text 6"/>
          <p:cNvSpPr txBox="1"/>
          <p:nvPr/>
        </p:nvSpPr>
        <p:spPr>
          <a:xfrm>
            <a:off x="914400" y="3429000"/>
            <a:ext cx="1481328" cy="1463040"/>
          </a:xfrm>
          <a:prstGeom prst="rect">
            <a:avLst/>
          </a:prstGeom>
          <a:noFill/>
          <a:ln/>
        </p:spPr>
        <p:txBody>
          <a:bodyPr wrap="square" lIns="0" tIns="0" rIns="0" bIns="0" rtlCol="0" anchor="ctr"/>
          <a:lstStyle/>
          <a:p>
            <a:pPr indent="0" marL="0">
              <a:lnSpc>
                <a:spcPts val="1700"/>
              </a:lnSpc>
              <a:buNone/>
            </a:pPr>
            <a:r>
              <a:rPr lang="en-US" sz="1250" dirty="0">
                <a:solidFill>
                  <a:srgbClr val="5A6B70"/>
                </a:solidFill>
                <a:latin typeface="Calibri" pitchFamily="34" charset="0"/>
                <a:ea typeface="Calibri" pitchFamily="34" charset="-122"/>
                <a:cs typeface="Calibri" pitchFamily="34" charset="-120"/>
              </a:rPr>
              <a:t>Relacionada con tu profesión o área similar, con no más de cinco años de antigüedad.</a:t>
            </a:r>
            <a:endParaRPr lang="en-US" sz="1250" dirty="0"/>
          </a:p>
        </p:txBody>
      </p:sp>
      <p:sp>
        <p:nvSpPr>
          <p:cNvPr id="9" name="Shape 7"/>
          <p:cNvSpPr/>
          <p:nvPr/>
        </p:nvSpPr>
        <p:spPr>
          <a:xfrm>
            <a:off x="2852928" y="1920240"/>
            <a:ext cx="2029968" cy="3246120"/>
          </a:xfrm>
          <a:prstGeom prst="roundRect">
            <a:avLst>
              <a:gd name="adj" fmla="val 4505"/>
            </a:avLst>
          </a:prstGeom>
          <a:solidFill>
            <a:srgbClr val="EAF4F4"/>
          </a:solidFill>
          <a:ln/>
        </p:spPr>
      </p:sp>
      <p:sp>
        <p:nvSpPr>
          <p:cNvPr id="10" name="Shape 8"/>
          <p:cNvSpPr/>
          <p:nvPr/>
        </p:nvSpPr>
        <p:spPr>
          <a:xfrm>
            <a:off x="3172968" y="2194560"/>
            <a:ext cx="457200" cy="457200"/>
          </a:xfrm>
          <a:prstGeom prst="ellipse">
            <a:avLst/>
          </a:prstGeom>
          <a:solidFill>
            <a:srgbClr val="028090"/>
          </a:solidFill>
          <a:ln/>
        </p:spPr>
      </p:sp>
      <p:sp>
        <p:nvSpPr>
          <p:cNvPr id="11" name="Text 9"/>
          <p:cNvSpPr txBox="1"/>
          <p:nvPr/>
        </p:nvSpPr>
        <p:spPr>
          <a:xfrm>
            <a:off x="3172968" y="21945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txBox="1"/>
          <p:nvPr/>
        </p:nvSpPr>
        <p:spPr>
          <a:xfrm>
            <a:off x="3127248" y="2834640"/>
            <a:ext cx="1481328" cy="548640"/>
          </a:xfrm>
          <a:prstGeom prst="rect">
            <a:avLst/>
          </a:prstGeom>
          <a:noFill/>
          <a:ln/>
        </p:spPr>
        <p:txBody>
          <a:bodyPr wrap="square" lIns="0" tIns="0" rIns="0" bIns="0" rtlCol="0" anchor="ctr"/>
          <a:lstStyle/>
          <a:p>
            <a:pPr indent="0" marL="0">
              <a:buNone/>
            </a:pPr>
            <a:r>
              <a:rPr lang="en-US" sz="1550" b="1" dirty="0">
                <a:solidFill>
                  <a:srgbClr val="16262A"/>
                </a:solidFill>
                <a:latin typeface="Cambria" pitchFamily="34" charset="0"/>
                <a:ea typeface="Cambria" pitchFamily="34" charset="-122"/>
                <a:cs typeface="Cambria" pitchFamily="34" charset="-120"/>
              </a:rPr>
              <a:t>Analizar la noticia</a:t>
            </a:r>
            <a:endParaRPr lang="en-US" sz="1550" dirty="0"/>
          </a:p>
        </p:txBody>
      </p:sp>
      <p:sp>
        <p:nvSpPr>
          <p:cNvPr id="13" name="Text 11"/>
          <p:cNvSpPr txBox="1"/>
          <p:nvPr/>
        </p:nvSpPr>
        <p:spPr>
          <a:xfrm>
            <a:off x="3127248" y="3429000"/>
            <a:ext cx="1481328" cy="1463040"/>
          </a:xfrm>
          <a:prstGeom prst="rect">
            <a:avLst/>
          </a:prstGeom>
          <a:noFill/>
          <a:ln/>
        </p:spPr>
        <p:txBody>
          <a:bodyPr wrap="square" lIns="0" tIns="0" rIns="0" bIns="0" rtlCol="0" anchor="ctr"/>
          <a:lstStyle/>
          <a:p>
            <a:pPr indent="0" marL="0">
              <a:lnSpc>
                <a:spcPts val="1700"/>
              </a:lnSpc>
              <a:buNone/>
            </a:pPr>
            <a:r>
              <a:rPr lang="en-US" sz="1250" dirty="0">
                <a:solidFill>
                  <a:srgbClr val="5A6B70"/>
                </a:solidFill>
                <a:latin typeface="Calibri" pitchFamily="34" charset="0"/>
                <a:ea typeface="Calibri" pitchFamily="34" charset="-122"/>
                <a:cs typeface="Calibri" pitchFamily="34" charset="-120"/>
              </a:rPr>
              <a:t>Título de la clase y conceptos clave, síntesis breve y reflexión sobre la virtud.</a:t>
            </a:r>
            <a:endParaRPr lang="en-US" sz="1250" dirty="0"/>
          </a:p>
        </p:txBody>
      </p:sp>
      <p:sp>
        <p:nvSpPr>
          <p:cNvPr id="14" name="Shape 12"/>
          <p:cNvSpPr/>
          <p:nvPr/>
        </p:nvSpPr>
        <p:spPr>
          <a:xfrm>
            <a:off x="5065776" y="1920240"/>
            <a:ext cx="2029968" cy="3246120"/>
          </a:xfrm>
          <a:prstGeom prst="roundRect">
            <a:avLst>
              <a:gd name="adj" fmla="val 4505"/>
            </a:avLst>
          </a:prstGeom>
          <a:solidFill>
            <a:srgbClr val="05323B"/>
          </a:solidFill>
          <a:ln/>
        </p:spPr>
      </p:sp>
      <p:sp>
        <p:nvSpPr>
          <p:cNvPr id="15" name="Shape 13"/>
          <p:cNvSpPr/>
          <p:nvPr/>
        </p:nvSpPr>
        <p:spPr>
          <a:xfrm>
            <a:off x="5385816" y="2194560"/>
            <a:ext cx="457200" cy="457200"/>
          </a:xfrm>
          <a:prstGeom prst="ellipse">
            <a:avLst/>
          </a:prstGeom>
          <a:solidFill>
            <a:srgbClr val="02C39A"/>
          </a:solidFill>
          <a:ln/>
        </p:spPr>
      </p:sp>
      <p:sp>
        <p:nvSpPr>
          <p:cNvPr id="16" name="Text 14"/>
          <p:cNvSpPr txBox="1"/>
          <p:nvPr/>
        </p:nvSpPr>
        <p:spPr>
          <a:xfrm>
            <a:off x="5385816" y="2194560"/>
            <a:ext cx="457200" cy="457200"/>
          </a:xfrm>
          <a:prstGeom prst="rect">
            <a:avLst/>
          </a:prstGeom>
          <a:noFill/>
          <a:ln/>
        </p:spPr>
        <p:txBody>
          <a:bodyPr wrap="square" lIns="0" tIns="0" rIns="0" bIns="0" rtlCol="0" anchor="ctr"/>
          <a:lstStyle/>
          <a:p>
            <a:pPr algn="ctr" indent="0" marL="0">
              <a:buNone/>
            </a:pPr>
            <a:r>
              <a:rPr lang="en-US" sz="1700" b="1" dirty="0">
                <a:solidFill>
                  <a:srgbClr val="05323B"/>
                </a:solidFill>
                <a:latin typeface="Cambria" pitchFamily="34" charset="0"/>
                <a:ea typeface="Cambria" pitchFamily="34" charset="-122"/>
                <a:cs typeface="Cambria" pitchFamily="34" charset="-120"/>
              </a:rPr>
              <a:t>3</a:t>
            </a:r>
            <a:endParaRPr lang="en-US" sz="1700" dirty="0"/>
          </a:p>
        </p:txBody>
      </p:sp>
      <p:sp>
        <p:nvSpPr>
          <p:cNvPr id="17" name="Text 15"/>
          <p:cNvSpPr txBox="1"/>
          <p:nvPr/>
        </p:nvSpPr>
        <p:spPr>
          <a:xfrm>
            <a:off x="5340096" y="2834640"/>
            <a:ext cx="1481328" cy="5486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Usar la IA con límite</a:t>
            </a:r>
            <a:endParaRPr lang="en-US" sz="1550" dirty="0"/>
          </a:p>
        </p:txBody>
      </p:sp>
      <p:sp>
        <p:nvSpPr>
          <p:cNvPr id="18" name="Text 16"/>
          <p:cNvSpPr txBox="1"/>
          <p:nvPr/>
        </p:nvSpPr>
        <p:spPr>
          <a:xfrm>
            <a:off x="5340096" y="3429000"/>
            <a:ext cx="1481328" cy="1463040"/>
          </a:xfrm>
          <a:prstGeom prst="rect">
            <a:avLst/>
          </a:prstGeom>
          <a:noFill/>
          <a:ln/>
        </p:spPr>
        <p:txBody>
          <a:bodyPr wrap="square" lIns="0" tIns="0" rIns="0" bIns="0" rtlCol="0" anchor="ctr"/>
          <a:lstStyle/>
          <a:p>
            <a:pPr indent="0" marL="0">
              <a:lnSpc>
                <a:spcPts val="1700"/>
              </a:lnSpc>
              <a:buNone/>
            </a:pPr>
            <a:r>
              <a:rPr lang="en-US" sz="1250" dirty="0">
                <a:solidFill>
                  <a:srgbClr val="D6E6E7"/>
                </a:solidFill>
                <a:latin typeface="Calibri" pitchFamily="34" charset="0"/>
                <a:ea typeface="Calibri" pitchFamily="34" charset="-122"/>
                <a:cs typeface="Calibri" pitchFamily="34" charset="-120"/>
              </a:rPr>
              <a:t>Como apoyo, cuidando que no más del 50% provenga de IA o de trabajos ajenos.</a:t>
            </a:r>
            <a:endParaRPr lang="en-US" sz="1250" dirty="0"/>
          </a:p>
        </p:txBody>
      </p:sp>
      <p:sp>
        <p:nvSpPr>
          <p:cNvPr id="19" name="Shape 17"/>
          <p:cNvSpPr/>
          <p:nvPr/>
        </p:nvSpPr>
        <p:spPr>
          <a:xfrm>
            <a:off x="7278624" y="1920240"/>
            <a:ext cx="2029968" cy="3246120"/>
          </a:xfrm>
          <a:prstGeom prst="roundRect">
            <a:avLst>
              <a:gd name="adj" fmla="val 4505"/>
            </a:avLst>
          </a:prstGeom>
          <a:solidFill>
            <a:srgbClr val="EAF4F4"/>
          </a:solidFill>
          <a:ln/>
        </p:spPr>
      </p:sp>
      <p:sp>
        <p:nvSpPr>
          <p:cNvPr id="20" name="Shape 18"/>
          <p:cNvSpPr/>
          <p:nvPr/>
        </p:nvSpPr>
        <p:spPr>
          <a:xfrm>
            <a:off x="7598664" y="2194560"/>
            <a:ext cx="457200" cy="457200"/>
          </a:xfrm>
          <a:prstGeom prst="ellipse">
            <a:avLst/>
          </a:prstGeom>
          <a:solidFill>
            <a:srgbClr val="028090"/>
          </a:solidFill>
          <a:ln/>
        </p:spPr>
      </p:sp>
      <p:sp>
        <p:nvSpPr>
          <p:cNvPr id="21" name="Text 19"/>
          <p:cNvSpPr txBox="1"/>
          <p:nvPr/>
        </p:nvSpPr>
        <p:spPr>
          <a:xfrm>
            <a:off x="7598664" y="21945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txBox="1"/>
          <p:nvPr/>
        </p:nvSpPr>
        <p:spPr>
          <a:xfrm>
            <a:off x="7552944" y="2834640"/>
            <a:ext cx="1481328" cy="548640"/>
          </a:xfrm>
          <a:prstGeom prst="rect">
            <a:avLst/>
          </a:prstGeom>
          <a:noFill/>
          <a:ln/>
        </p:spPr>
        <p:txBody>
          <a:bodyPr wrap="square" lIns="0" tIns="0" rIns="0" bIns="0" rtlCol="0" anchor="ctr"/>
          <a:lstStyle/>
          <a:p>
            <a:pPr indent="0" marL="0">
              <a:buNone/>
            </a:pPr>
            <a:r>
              <a:rPr lang="en-US" sz="1550" b="1" dirty="0">
                <a:solidFill>
                  <a:srgbClr val="16262A"/>
                </a:solidFill>
                <a:latin typeface="Cambria" pitchFamily="34" charset="0"/>
                <a:ea typeface="Cambria" pitchFamily="34" charset="-122"/>
                <a:cs typeface="Cambria" pitchFamily="34" charset="-120"/>
              </a:rPr>
              <a:t>Usar lenguaje técnico</a:t>
            </a:r>
            <a:endParaRPr lang="en-US" sz="1550" dirty="0"/>
          </a:p>
        </p:txBody>
      </p:sp>
      <p:sp>
        <p:nvSpPr>
          <p:cNvPr id="23" name="Text 21"/>
          <p:cNvSpPr txBox="1"/>
          <p:nvPr/>
        </p:nvSpPr>
        <p:spPr>
          <a:xfrm>
            <a:off x="7552944" y="3429000"/>
            <a:ext cx="1481328" cy="1463040"/>
          </a:xfrm>
          <a:prstGeom prst="rect">
            <a:avLst/>
          </a:prstGeom>
          <a:noFill/>
          <a:ln/>
        </p:spPr>
        <p:txBody>
          <a:bodyPr wrap="square" lIns="0" tIns="0" rIns="0" bIns="0" rtlCol="0" anchor="ctr"/>
          <a:lstStyle/>
          <a:p>
            <a:pPr indent="0" marL="0">
              <a:lnSpc>
                <a:spcPts val="1700"/>
              </a:lnSpc>
              <a:buNone/>
            </a:pPr>
            <a:r>
              <a:rPr lang="en-US" sz="1250" dirty="0">
                <a:solidFill>
                  <a:srgbClr val="5A6B70"/>
                </a:solidFill>
                <a:latin typeface="Calibri" pitchFamily="34" charset="0"/>
                <a:ea typeface="Calibri" pitchFamily="34" charset="-122"/>
                <a:cs typeface="Calibri" pitchFamily="34" charset="-120"/>
              </a:rPr>
              <a:t>Propio de la asignatura de ética y de tu carrera.</a:t>
            </a:r>
            <a:endParaRPr lang="en-US" sz="1250" dirty="0"/>
          </a:p>
        </p:txBody>
      </p:sp>
      <p:sp>
        <p:nvSpPr>
          <p:cNvPr id="24" name="Shape 22"/>
          <p:cNvSpPr/>
          <p:nvPr/>
        </p:nvSpPr>
        <p:spPr>
          <a:xfrm>
            <a:off x="9491472" y="1920240"/>
            <a:ext cx="2029968" cy="3246120"/>
          </a:xfrm>
          <a:prstGeom prst="roundRect">
            <a:avLst>
              <a:gd name="adj" fmla="val 4505"/>
            </a:avLst>
          </a:prstGeom>
          <a:solidFill>
            <a:srgbClr val="EAF4F4"/>
          </a:solidFill>
          <a:ln/>
        </p:spPr>
      </p:sp>
      <p:sp>
        <p:nvSpPr>
          <p:cNvPr id="25" name="Shape 23"/>
          <p:cNvSpPr/>
          <p:nvPr/>
        </p:nvSpPr>
        <p:spPr>
          <a:xfrm>
            <a:off x="9811512" y="2194560"/>
            <a:ext cx="457200" cy="457200"/>
          </a:xfrm>
          <a:prstGeom prst="ellipse">
            <a:avLst/>
          </a:prstGeom>
          <a:solidFill>
            <a:srgbClr val="028090"/>
          </a:solidFill>
          <a:ln/>
        </p:spPr>
      </p:sp>
      <p:sp>
        <p:nvSpPr>
          <p:cNvPr id="26" name="Text 24"/>
          <p:cNvSpPr txBox="1"/>
          <p:nvPr/>
        </p:nvSpPr>
        <p:spPr>
          <a:xfrm>
            <a:off x="9811512" y="21945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27" name="Text 25"/>
          <p:cNvSpPr txBox="1"/>
          <p:nvPr/>
        </p:nvSpPr>
        <p:spPr>
          <a:xfrm>
            <a:off x="9765792" y="2834640"/>
            <a:ext cx="1481328" cy="548640"/>
          </a:xfrm>
          <a:prstGeom prst="rect">
            <a:avLst/>
          </a:prstGeom>
          <a:noFill/>
          <a:ln/>
        </p:spPr>
        <p:txBody>
          <a:bodyPr wrap="square" lIns="0" tIns="0" rIns="0" bIns="0" rtlCol="0" anchor="ctr"/>
          <a:lstStyle/>
          <a:p>
            <a:pPr indent="0" marL="0">
              <a:buNone/>
            </a:pPr>
            <a:r>
              <a:rPr lang="en-US" sz="1550" b="1" dirty="0">
                <a:solidFill>
                  <a:srgbClr val="16262A"/>
                </a:solidFill>
                <a:latin typeface="Cambria" pitchFamily="34" charset="0"/>
                <a:ea typeface="Cambria" pitchFamily="34" charset="-122"/>
                <a:cs typeface="Cambria" pitchFamily="34" charset="-120"/>
              </a:rPr>
              <a:t>Completar la hoja</a:t>
            </a:r>
            <a:endParaRPr lang="en-US" sz="1550" dirty="0"/>
          </a:p>
        </p:txBody>
      </p:sp>
      <p:sp>
        <p:nvSpPr>
          <p:cNvPr id="28" name="Text 26"/>
          <p:cNvSpPr txBox="1"/>
          <p:nvPr/>
        </p:nvSpPr>
        <p:spPr>
          <a:xfrm>
            <a:off x="9765792" y="3429000"/>
            <a:ext cx="1481328" cy="1463040"/>
          </a:xfrm>
          <a:prstGeom prst="rect">
            <a:avLst/>
          </a:prstGeom>
          <a:noFill/>
          <a:ln/>
        </p:spPr>
        <p:txBody>
          <a:bodyPr wrap="square" lIns="0" tIns="0" rIns="0" bIns="0" rtlCol="0" anchor="ctr"/>
          <a:lstStyle/>
          <a:p>
            <a:pPr indent="0" marL="0">
              <a:lnSpc>
                <a:spcPts val="1700"/>
              </a:lnSpc>
              <a:buNone/>
            </a:pPr>
            <a:r>
              <a:rPr lang="en-US" sz="1250" dirty="0">
                <a:solidFill>
                  <a:srgbClr val="5A6B70"/>
                </a:solidFill>
                <a:latin typeface="Calibri" pitchFamily="34" charset="0"/>
                <a:ea typeface="Calibri" pitchFamily="34" charset="-122"/>
                <a:cs typeface="Calibri" pitchFamily="34" charset="-120"/>
              </a:rPr>
              <a:t>La hoja de respuesta funciona como apoyo de la información.</a:t>
            </a:r>
            <a:endParaRPr lang="en-US" sz="1250" dirty="0"/>
          </a:p>
        </p:txBody>
      </p:sp>
      <p:sp>
        <p:nvSpPr>
          <p:cNvPr id="29" name="Text 27"/>
          <p:cNvSpPr txBox="1"/>
          <p:nvPr/>
        </p:nvSpPr>
        <p:spPr>
          <a:xfrm>
            <a:off x="640080" y="5532120"/>
            <a:ext cx="10881360" cy="365760"/>
          </a:xfrm>
          <a:prstGeom prst="rect">
            <a:avLst/>
          </a:prstGeom>
          <a:noFill/>
          <a:ln/>
        </p:spPr>
        <p:txBody>
          <a:bodyPr wrap="square" lIns="0" tIns="0" rIns="0" bIns="0" rtlCol="0" anchor="ctr"/>
          <a:lstStyle/>
          <a:p>
            <a:pPr indent="0" marL="0">
              <a:buNone/>
            </a:pPr>
            <a:r>
              <a:rPr lang="en-US" sz="1350" i="1" dirty="0">
                <a:solidFill>
                  <a:srgbClr val="028090"/>
                </a:solidFill>
                <a:latin typeface="Calibri" pitchFamily="34" charset="0"/>
                <a:ea typeface="Calibri" pitchFamily="34" charset="-122"/>
                <a:cs typeface="Calibri" pitchFamily="34" charset="-120"/>
              </a:rPr>
              <a:t>El producto de la semana 4 es el análisis escrito que sostendrá la presentación de la semana 5.</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indent="0" marL="0">
              <a:buNone/>
            </a:pPr>
            <a:r>
              <a:rPr lang="en-US" sz="1300" b="1" spc="160" kern="0" dirty="0">
                <a:solidFill>
                  <a:srgbClr val="028090"/>
                </a:solidFill>
                <a:latin typeface="Calibri" pitchFamily="34" charset="0"/>
                <a:ea typeface="Calibri" pitchFamily="34" charset="-122"/>
                <a:cs typeface="Calibri" pitchFamily="34" charset="-120"/>
              </a:rPr>
              <a:t>SEMANA 4  |  CONTENIDO DEL ANÁLISIS</a:t>
            </a:r>
            <a:endParaRPr lang="en-US" sz="13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6262A"/>
                </a:solidFill>
                <a:latin typeface="Cambria" pitchFamily="34" charset="0"/>
                <a:ea typeface="Cambria" pitchFamily="34" charset="-122"/>
                <a:cs typeface="Cambria" pitchFamily="34" charset="-120"/>
              </a:rPr>
              <a:t>Qué debe contener su análisis</a:t>
            </a:r>
            <a:endParaRPr lang="en-US" sz="3400" dirty="0"/>
          </a:p>
        </p:txBody>
      </p:sp>
      <p:sp>
        <p:nvSpPr>
          <p:cNvPr id="4" name="Shape 2"/>
          <p:cNvSpPr/>
          <p:nvPr/>
        </p:nvSpPr>
        <p:spPr>
          <a:xfrm>
            <a:off x="640080" y="1783080"/>
            <a:ext cx="10881360" cy="1097280"/>
          </a:xfrm>
          <a:prstGeom prst="roundRect">
            <a:avLst>
              <a:gd name="adj" fmla="val 8333"/>
            </a:avLst>
          </a:prstGeom>
          <a:solidFill>
            <a:srgbClr val="EAF4F4"/>
          </a:solidFill>
          <a:ln/>
        </p:spPr>
      </p:sp>
      <p:sp>
        <p:nvSpPr>
          <p:cNvPr id="5" name="Shape 3"/>
          <p:cNvSpPr/>
          <p:nvPr/>
        </p:nvSpPr>
        <p:spPr>
          <a:xfrm>
            <a:off x="960120" y="2084832"/>
            <a:ext cx="502920" cy="502920"/>
          </a:xfrm>
          <a:prstGeom prst="ellipse">
            <a:avLst/>
          </a:prstGeom>
          <a:solidFill>
            <a:srgbClr val="028090"/>
          </a:solidFill>
          <a:ln/>
        </p:spPr>
      </p:sp>
      <p:sp>
        <p:nvSpPr>
          <p:cNvPr id="6" name="Text 4"/>
          <p:cNvSpPr txBox="1"/>
          <p:nvPr/>
        </p:nvSpPr>
        <p:spPr>
          <a:xfrm>
            <a:off x="960120" y="20848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691640" y="1984248"/>
            <a:ext cx="3017520" cy="365760"/>
          </a:xfrm>
          <a:prstGeom prst="rect">
            <a:avLst/>
          </a:prstGeom>
          <a:noFill/>
          <a:ln/>
        </p:spPr>
        <p:txBody>
          <a:bodyPr wrap="square" lIns="0" tIns="0" rIns="0" bIns="0" rtlCol="0" anchor="ctr"/>
          <a:lstStyle/>
          <a:p>
            <a:pPr indent="0" marL="0">
              <a:buNone/>
            </a:pPr>
            <a:r>
              <a:rPr lang="en-US" sz="1700" b="1" dirty="0">
                <a:solidFill>
                  <a:srgbClr val="16262A"/>
                </a:solidFill>
                <a:latin typeface="Cambria" pitchFamily="34" charset="0"/>
                <a:ea typeface="Cambria" pitchFamily="34" charset="-122"/>
                <a:cs typeface="Cambria" pitchFamily="34" charset="-120"/>
              </a:rPr>
              <a:t>Título y conceptos clave</a:t>
            </a:r>
            <a:endParaRPr lang="en-US" sz="1700" dirty="0"/>
          </a:p>
        </p:txBody>
      </p:sp>
      <p:sp>
        <p:nvSpPr>
          <p:cNvPr id="8" name="Text 6"/>
          <p:cNvSpPr txBox="1"/>
          <p:nvPr/>
        </p:nvSpPr>
        <p:spPr>
          <a:xfrm>
            <a:off x="4846320" y="1965960"/>
            <a:ext cx="6309360" cy="777240"/>
          </a:xfrm>
          <a:prstGeom prst="rect">
            <a:avLst/>
          </a:prstGeom>
          <a:noFill/>
          <a:ln/>
        </p:spPr>
        <p:txBody>
          <a:bodyPr wrap="square" lIns="0" tIns="0" rIns="0" bIns="0" rtlCol="0" anchor="ctr"/>
          <a:lstStyle/>
          <a:p>
            <a:pPr indent="0" marL="0">
              <a:lnSpc>
                <a:spcPts val="1900"/>
              </a:lnSpc>
              <a:buNone/>
            </a:pPr>
            <a:r>
              <a:rPr lang="en-US" sz="1400" dirty="0">
                <a:solidFill>
                  <a:srgbClr val="5A6B70"/>
                </a:solidFill>
                <a:latin typeface="Calibri" pitchFamily="34" charset="0"/>
                <a:ea typeface="Calibri" pitchFamily="34" charset="-122"/>
                <a:cs typeface="Calibri" pitchFamily="34" charset="-120"/>
              </a:rPr>
              <a:t>Identifiquen el título de la clase trabajada y los cuatro conceptos clave seleccionados de la experiencia de aprendizaje 1.</a:t>
            </a:r>
            <a:endParaRPr lang="en-US" sz="1400" dirty="0"/>
          </a:p>
        </p:txBody>
      </p:sp>
      <p:sp>
        <p:nvSpPr>
          <p:cNvPr id="9" name="Shape 7"/>
          <p:cNvSpPr/>
          <p:nvPr/>
        </p:nvSpPr>
        <p:spPr>
          <a:xfrm>
            <a:off x="640080" y="3108960"/>
            <a:ext cx="10881360" cy="1097280"/>
          </a:xfrm>
          <a:prstGeom prst="roundRect">
            <a:avLst>
              <a:gd name="adj" fmla="val 8333"/>
            </a:avLst>
          </a:prstGeom>
          <a:solidFill>
            <a:srgbClr val="EAF4F4"/>
          </a:solidFill>
          <a:ln/>
        </p:spPr>
      </p:sp>
      <p:sp>
        <p:nvSpPr>
          <p:cNvPr id="10" name="Shape 8"/>
          <p:cNvSpPr/>
          <p:nvPr/>
        </p:nvSpPr>
        <p:spPr>
          <a:xfrm>
            <a:off x="960120" y="3410712"/>
            <a:ext cx="502920" cy="502920"/>
          </a:xfrm>
          <a:prstGeom prst="ellipse">
            <a:avLst/>
          </a:prstGeom>
          <a:solidFill>
            <a:srgbClr val="028090"/>
          </a:solidFill>
          <a:ln/>
        </p:spPr>
      </p:sp>
      <p:sp>
        <p:nvSpPr>
          <p:cNvPr id="11" name="Text 9"/>
          <p:cNvSpPr txBox="1"/>
          <p:nvPr/>
        </p:nvSpPr>
        <p:spPr>
          <a:xfrm>
            <a:off x="960120" y="34107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1691640" y="3310128"/>
            <a:ext cx="3017520" cy="365760"/>
          </a:xfrm>
          <a:prstGeom prst="rect">
            <a:avLst/>
          </a:prstGeom>
          <a:noFill/>
          <a:ln/>
        </p:spPr>
        <p:txBody>
          <a:bodyPr wrap="square" lIns="0" tIns="0" rIns="0" bIns="0" rtlCol="0" anchor="ctr"/>
          <a:lstStyle/>
          <a:p>
            <a:pPr indent="0" marL="0">
              <a:buNone/>
            </a:pPr>
            <a:r>
              <a:rPr lang="en-US" sz="1700" b="1" dirty="0">
                <a:solidFill>
                  <a:srgbClr val="16262A"/>
                </a:solidFill>
                <a:latin typeface="Cambria" pitchFamily="34" charset="0"/>
                <a:ea typeface="Cambria" pitchFamily="34" charset="-122"/>
                <a:cs typeface="Cambria" pitchFamily="34" charset="-120"/>
              </a:rPr>
              <a:t>Síntesis de la noticia</a:t>
            </a:r>
            <a:endParaRPr lang="en-US" sz="1700" dirty="0"/>
          </a:p>
        </p:txBody>
      </p:sp>
      <p:sp>
        <p:nvSpPr>
          <p:cNvPr id="13" name="Text 11"/>
          <p:cNvSpPr txBox="1"/>
          <p:nvPr/>
        </p:nvSpPr>
        <p:spPr>
          <a:xfrm>
            <a:off x="4846320" y="3291840"/>
            <a:ext cx="6309360" cy="777240"/>
          </a:xfrm>
          <a:prstGeom prst="rect">
            <a:avLst/>
          </a:prstGeom>
          <a:noFill/>
          <a:ln/>
        </p:spPr>
        <p:txBody>
          <a:bodyPr wrap="square" lIns="0" tIns="0" rIns="0" bIns="0" rtlCol="0" anchor="ctr"/>
          <a:lstStyle/>
          <a:p>
            <a:pPr indent="0" marL="0">
              <a:lnSpc>
                <a:spcPts val="1900"/>
              </a:lnSpc>
              <a:buNone/>
            </a:pPr>
            <a:r>
              <a:rPr lang="en-US" sz="1400" dirty="0">
                <a:solidFill>
                  <a:srgbClr val="5A6B70"/>
                </a:solidFill>
                <a:latin typeface="Calibri" pitchFamily="34" charset="0"/>
                <a:ea typeface="Calibri" pitchFamily="34" charset="-122"/>
                <a:cs typeface="Calibri" pitchFamily="34" charset="-120"/>
              </a:rPr>
              <a:t>Expongan de manera breve la noticia y hagan explícita su relación con los cuatro conceptos seleccionados.</a:t>
            </a:r>
            <a:endParaRPr lang="en-US" sz="1400" dirty="0"/>
          </a:p>
        </p:txBody>
      </p:sp>
      <p:sp>
        <p:nvSpPr>
          <p:cNvPr id="14" name="Shape 12"/>
          <p:cNvSpPr/>
          <p:nvPr/>
        </p:nvSpPr>
        <p:spPr>
          <a:xfrm>
            <a:off x="640080" y="4434840"/>
            <a:ext cx="10881360" cy="1097280"/>
          </a:xfrm>
          <a:prstGeom prst="roundRect">
            <a:avLst>
              <a:gd name="adj" fmla="val 8333"/>
            </a:avLst>
          </a:prstGeom>
          <a:solidFill>
            <a:srgbClr val="EAF4F4"/>
          </a:solidFill>
          <a:ln/>
        </p:spPr>
      </p:sp>
      <p:sp>
        <p:nvSpPr>
          <p:cNvPr id="15" name="Shape 13"/>
          <p:cNvSpPr/>
          <p:nvPr/>
        </p:nvSpPr>
        <p:spPr>
          <a:xfrm>
            <a:off x="960120" y="4736592"/>
            <a:ext cx="502920" cy="502920"/>
          </a:xfrm>
          <a:prstGeom prst="ellipse">
            <a:avLst/>
          </a:prstGeom>
          <a:solidFill>
            <a:srgbClr val="028090"/>
          </a:solidFill>
          <a:ln/>
        </p:spPr>
      </p:sp>
      <p:sp>
        <p:nvSpPr>
          <p:cNvPr id="16" name="Text 14"/>
          <p:cNvSpPr txBox="1"/>
          <p:nvPr/>
        </p:nvSpPr>
        <p:spPr>
          <a:xfrm>
            <a:off x="960120" y="4736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1691640" y="4636008"/>
            <a:ext cx="3017520" cy="365760"/>
          </a:xfrm>
          <a:prstGeom prst="rect">
            <a:avLst/>
          </a:prstGeom>
          <a:noFill/>
          <a:ln/>
        </p:spPr>
        <p:txBody>
          <a:bodyPr wrap="square" lIns="0" tIns="0" rIns="0" bIns="0" rtlCol="0" anchor="ctr"/>
          <a:lstStyle/>
          <a:p>
            <a:pPr indent="0" marL="0">
              <a:buNone/>
            </a:pPr>
            <a:r>
              <a:rPr lang="en-US" sz="1700" b="1" dirty="0">
                <a:solidFill>
                  <a:srgbClr val="16262A"/>
                </a:solidFill>
                <a:latin typeface="Cambria" pitchFamily="34" charset="0"/>
                <a:ea typeface="Cambria" pitchFamily="34" charset="-122"/>
                <a:cs typeface="Cambria" pitchFamily="34" charset="-120"/>
              </a:rPr>
              <a:t>Reflexión sobre la virtud</a:t>
            </a:r>
            <a:endParaRPr lang="en-US" sz="1700" dirty="0"/>
          </a:p>
        </p:txBody>
      </p:sp>
      <p:sp>
        <p:nvSpPr>
          <p:cNvPr id="18" name="Text 16"/>
          <p:cNvSpPr txBox="1"/>
          <p:nvPr/>
        </p:nvSpPr>
        <p:spPr>
          <a:xfrm>
            <a:off x="4846320" y="4617720"/>
            <a:ext cx="6309360" cy="777240"/>
          </a:xfrm>
          <a:prstGeom prst="rect">
            <a:avLst/>
          </a:prstGeom>
          <a:noFill/>
          <a:ln/>
        </p:spPr>
        <p:txBody>
          <a:bodyPr wrap="square" lIns="0" tIns="0" rIns="0" bIns="0" rtlCol="0" anchor="ctr"/>
          <a:lstStyle/>
          <a:p>
            <a:pPr indent="0" marL="0">
              <a:lnSpc>
                <a:spcPts val="1900"/>
              </a:lnSpc>
              <a:buNone/>
            </a:pPr>
            <a:r>
              <a:rPr lang="en-US" sz="1400" dirty="0">
                <a:solidFill>
                  <a:srgbClr val="5A6B70"/>
                </a:solidFill>
                <a:latin typeface="Calibri" pitchFamily="34" charset="0"/>
                <a:ea typeface="Calibri" pitchFamily="34" charset="-122"/>
                <a:cs typeface="Calibri" pitchFamily="34" charset="-120"/>
              </a:rPr>
              <a:t>Expliquen el impacto de la virtud en el desarrollo del carácter y en la excelencia profesional.</a:t>
            </a:r>
            <a:endParaRPr lang="en-US" sz="1400" dirty="0"/>
          </a:p>
        </p:txBody>
      </p:sp>
      <p:sp>
        <p:nvSpPr>
          <p:cNvPr id="19" name="Shape 17"/>
          <p:cNvSpPr/>
          <p:nvPr/>
        </p:nvSpPr>
        <p:spPr>
          <a:xfrm>
            <a:off x="640080" y="5715000"/>
            <a:ext cx="10881360" cy="566928"/>
          </a:xfrm>
          <a:prstGeom prst="roundRect">
            <a:avLst>
              <a:gd name="adj" fmla="val 12903"/>
            </a:avLst>
          </a:prstGeom>
          <a:solidFill>
            <a:srgbClr val="05323B"/>
          </a:solidFill>
          <a:ln/>
        </p:spPr>
      </p:sp>
      <p:sp>
        <p:nvSpPr>
          <p:cNvPr id="20" name="Text 18"/>
          <p:cNvSpPr txBox="1"/>
          <p:nvPr/>
        </p:nvSpPr>
        <p:spPr>
          <a:xfrm>
            <a:off x="960120" y="5715000"/>
            <a:ext cx="1024128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Todo el análisis debe formularse con el lenguaje técnico propio de la ética y de su carrera.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indent="0" marL="0">
              <a:buNone/>
            </a:pPr>
            <a:r>
              <a:rPr lang="en-US" sz="1300" b="1" spc="160" kern="0" dirty="0">
                <a:solidFill>
                  <a:srgbClr val="028090"/>
                </a:solidFill>
                <a:latin typeface="Calibri" pitchFamily="34" charset="0"/>
                <a:ea typeface="Calibri" pitchFamily="34" charset="-122"/>
                <a:cs typeface="Calibri" pitchFamily="34" charset="-120"/>
              </a:rPr>
              <a:t>SEMANA 5  |  SEGUNDA ETAPA</a:t>
            </a:r>
            <a:endParaRPr lang="en-US" sz="13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6262A"/>
                </a:solidFill>
                <a:latin typeface="Cambria" pitchFamily="34" charset="0"/>
                <a:ea typeface="Cambria" pitchFamily="34" charset="-122"/>
                <a:cs typeface="Cambria" pitchFamily="34" charset="-120"/>
              </a:rPr>
              <a:t>Estructura de la presentación</a:t>
            </a:r>
            <a:endParaRPr lang="en-US" sz="3400" dirty="0"/>
          </a:p>
        </p:txBody>
      </p:sp>
      <p:sp>
        <p:nvSpPr>
          <p:cNvPr id="4" name="Shape 2"/>
          <p:cNvSpPr/>
          <p:nvPr/>
        </p:nvSpPr>
        <p:spPr>
          <a:xfrm>
            <a:off x="640080" y="1737360"/>
            <a:ext cx="5303520" cy="1874520"/>
          </a:xfrm>
          <a:prstGeom prst="roundRect">
            <a:avLst>
              <a:gd name="adj" fmla="val 4878"/>
            </a:avLst>
          </a:prstGeom>
          <a:solidFill>
            <a:srgbClr val="EAF4F4"/>
          </a:solidFill>
          <a:ln w="12700">
            <a:solidFill>
              <a:srgbClr val="EAF4F4"/>
            </a:solidFill>
            <a:prstDash val="solid"/>
          </a:ln>
        </p:spPr>
      </p:sp>
      <p:sp>
        <p:nvSpPr>
          <p:cNvPr id="5" name="Shape 3"/>
          <p:cNvSpPr/>
          <p:nvPr/>
        </p:nvSpPr>
        <p:spPr>
          <a:xfrm>
            <a:off x="960120" y="2029968"/>
            <a:ext cx="457200" cy="457200"/>
          </a:xfrm>
          <a:prstGeom prst="ellipse">
            <a:avLst/>
          </a:prstGeom>
          <a:solidFill>
            <a:srgbClr val="028090"/>
          </a:solidFill>
          <a:ln/>
        </p:spPr>
      </p:sp>
      <p:sp>
        <p:nvSpPr>
          <p:cNvPr id="6" name="Text 4"/>
          <p:cNvSpPr txBox="1"/>
          <p:nvPr/>
        </p:nvSpPr>
        <p:spPr>
          <a:xfrm>
            <a:off x="960120" y="202996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1554480" y="2084832"/>
            <a:ext cx="4114800" cy="365760"/>
          </a:xfrm>
          <a:prstGeom prst="rect">
            <a:avLst/>
          </a:prstGeom>
          <a:noFill/>
          <a:ln/>
        </p:spPr>
        <p:txBody>
          <a:bodyPr wrap="square" lIns="0" tIns="0" rIns="0" bIns="0" rtlCol="0" anchor="ctr"/>
          <a:lstStyle/>
          <a:p>
            <a:pPr indent="0" marL="0">
              <a:buNone/>
            </a:pPr>
            <a:r>
              <a:rPr lang="en-US" sz="1900" b="1" dirty="0">
                <a:solidFill>
                  <a:srgbClr val="16262A"/>
                </a:solidFill>
                <a:latin typeface="Cambria" pitchFamily="34" charset="0"/>
                <a:ea typeface="Cambria" pitchFamily="34" charset="-122"/>
                <a:cs typeface="Cambria" pitchFamily="34" charset="-120"/>
              </a:rPr>
              <a:t>Introducción</a:t>
            </a:r>
            <a:endParaRPr lang="en-US" sz="1900" dirty="0"/>
          </a:p>
        </p:txBody>
      </p:sp>
      <p:sp>
        <p:nvSpPr>
          <p:cNvPr id="8" name="Text 6"/>
          <p:cNvSpPr txBox="1"/>
          <p:nvPr/>
        </p:nvSpPr>
        <p:spPr>
          <a:xfrm>
            <a:off x="960120" y="2606040"/>
            <a:ext cx="4663440" cy="868680"/>
          </a:xfrm>
          <a:prstGeom prst="rect">
            <a:avLst/>
          </a:prstGeom>
          <a:noFill/>
          <a:ln/>
        </p:spPr>
        <p:txBody>
          <a:bodyPr wrap="square" lIns="0" tIns="0" rIns="0" bIns="0" rtlCol="0" anchor="ctr"/>
          <a:lstStyle/>
          <a:p>
            <a:pPr indent="0" marL="0">
              <a:lnSpc>
                <a:spcPts val="1900"/>
              </a:lnSpc>
              <a:buNone/>
            </a:pPr>
            <a:r>
              <a:rPr lang="en-US" sz="1350" dirty="0">
                <a:solidFill>
                  <a:srgbClr val="5A6B70"/>
                </a:solidFill>
                <a:latin typeface="Calibri" pitchFamily="34" charset="0"/>
                <a:ea typeface="Calibri" pitchFamily="34" charset="-122"/>
                <a:cs typeface="Calibri" pitchFamily="34" charset="-120"/>
              </a:rPr>
              <a:t>Preséntense y mencionen el tema seleccionado, indicando el título de la clase y los conceptos clave.</a:t>
            </a:r>
            <a:endParaRPr lang="en-US" sz="1350" dirty="0"/>
          </a:p>
        </p:txBody>
      </p:sp>
      <p:sp>
        <p:nvSpPr>
          <p:cNvPr id="9" name="Shape 7"/>
          <p:cNvSpPr/>
          <p:nvPr/>
        </p:nvSpPr>
        <p:spPr>
          <a:xfrm>
            <a:off x="6217920" y="1737360"/>
            <a:ext cx="5303520" cy="1874520"/>
          </a:xfrm>
          <a:prstGeom prst="roundRect">
            <a:avLst>
              <a:gd name="adj" fmla="val 4878"/>
            </a:avLst>
          </a:prstGeom>
          <a:solidFill>
            <a:srgbClr val="EAF4F4"/>
          </a:solidFill>
          <a:ln w="12700">
            <a:solidFill>
              <a:srgbClr val="EAF4F4"/>
            </a:solidFill>
            <a:prstDash val="solid"/>
          </a:ln>
        </p:spPr>
      </p:sp>
      <p:sp>
        <p:nvSpPr>
          <p:cNvPr id="10" name="Shape 8"/>
          <p:cNvSpPr/>
          <p:nvPr/>
        </p:nvSpPr>
        <p:spPr>
          <a:xfrm>
            <a:off x="6537960" y="2029968"/>
            <a:ext cx="457200" cy="457200"/>
          </a:xfrm>
          <a:prstGeom prst="ellipse">
            <a:avLst/>
          </a:prstGeom>
          <a:solidFill>
            <a:srgbClr val="028090"/>
          </a:solidFill>
          <a:ln/>
        </p:spPr>
      </p:sp>
      <p:sp>
        <p:nvSpPr>
          <p:cNvPr id="11" name="Text 9"/>
          <p:cNvSpPr txBox="1"/>
          <p:nvPr/>
        </p:nvSpPr>
        <p:spPr>
          <a:xfrm>
            <a:off x="6537960" y="202996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txBox="1"/>
          <p:nvPr/>
        </p:nvSpPr>
        <p:spPr>
          <a:xfrm>
            <a:off x="7132320" y="2084832"/>
            <a:ext cx="4114800" cy="365760"/>
          </a:xfrm>
          <a:prstGeom prst="rect">
            <a:avLst/>
          </a:prstGeom>
          <a:noFill/>
          <a:ln/>
        </p:spPr>
        <p:txBody>
          <a:bodyPr wrap="square" lIns="0" tIns="0" rIns="0" bIns="0" rtlCol="0" anchor="ctr"/>
          <a:lstStyle/>
          <a:p>
            <a:pPr indent="0" marL="0">
              <a:buNone/>
            </a:pPr>
            <a:r>
              <a:rPr lang="en-US" sz="1900" b="1" dirty="0">
                <a:solidFill>
                  <a:srgbClr val="16262A"/>
                </a:solidFill>
                <a:latin typeface="Cambria" pitchFamily="34" charset="0"/>
                <a:ea typeface="Cambria" pitchFamily="34" charset="-122"/>
                <a:cs typeface="Cambria" pitchFamily="34" charset="-120"/>
              </a:rPr>
              <a:t>Desarrollo</a:t>
            </a:r>
            <a:endParaRPr lang="en-US" sz="1900" dirty="0"/>
          </a:p>
        </p:txBody>
      </p:sp>
      <p:sp>
        <p:nvSpPr>
          <p:cNvPr id="13" name="Text 11"/>
          <p:cNvSpPr txBox="1"/>
          <p:nvPr/>
        </p:nvSpPr>
        <p:spPr>
          <a:xfrm>
            <a:off x="6537960" y="2606040"/>
            <a:ext cx="4663440" cy="868680"/>
          </a:xfrm>
          <a:prstGeom prst="rect">
            <a:avLst/>
          </a:prstGeom>
          <a:noFill/>
          <a:ln/>
        </p:spPr>
        <p:txBody>
          <a:bodyPr wrap="square" lIns="0" tIns="0" rIns="0" bIns="0" rtlCol="0" anchor="ctr"/>
          <a:lstStyle/>
          <a:p>
            <a:pPr indent="0" marL="0">
              <a:lnSpc>
                <a:spcPts val="1900"/>
              </a:lnSpc>
              <a:buNone/>
            </a:pPr>
            <a:r>
              <a:rPr lang="en-US" sz="1350" dirty="0">
                <a:solidFill>
                  <a:srgbClr val="5A6B70"/>
                </a:solidFill>
                <a:latin typeface="Calibri" pitchFamily="34" charset="0"/>
                <a:ea typeface="Calibri" pitchFamily="34" charset="-122"/>
                <a:cs typeface="Calibri" pitchFamily="34" charset="-120"/>
              </a:rPr>
              <a:t>Síntesis breve de la noticia, exponiendo su relación con los cuatro conceptos seleccionados, con lenguaje técnico de la carrera y la asignatura.</a:t>
            </a:r>
            <a:endParaRPr lang="en-US" sz="1350" dirty="0"/>
          </a:p>
        </p:txBody>
      </p:sp>
      <p:sp>
        <p:nvSpPr>
          <p:cNvPr id="14" name="Shape 12"/>
          <p:cNvSpPr/>
          <p:nvPr/>
        </p:nvSpPr>
        <p:spPr>
          <a:xfrm>
            <a:off x="640080" y="3840480"/>
            <a:ext cx="5303520" cy="1874520"/>
          </a:xfrm>
          <a:prstGeom prst="roundRect">
            <a:avLst>
              <a:gd name="adj" fmla="val 4878"/>
            </a:avLst>
          </a:prstGeom>
          <a:solidFill>
            <a:srgbClr val="FFFFFF"/>
          </a:solidFill>
          <a:ln w="12700">
            <a:solidFill>
              <a:srgbClr val="CFE2E3"/>
            </a:solidFill>
            <a:prstDash val="solid"/>
          </a:ln>
        </p:spPr>
      </p:sp>
      <p:sp>
        <p:nvSpPr>
          <p:cNvPr id="15" name="Shape 13"/>
          <p:cNvSpPr/>
          <p:nvPr/>
        </p:nvSpPr>
        <p:spPr>
          <a:xfrm>
            <a:off x="960120" y="4133088"/>
            <a:ext cx="457200" cy="457200"/>
          </a:xfrm>
          <a:prstGeom prst="ellipse">
            <a:avLst/>
          </a:prstGeom>
          <a:solidFill>
            <a:srgbClr val="028090"/>
          </a:solidFill>
          <a:ln/>
        </p:spPr>
      </p:sp>
      <p:sp>
        <p:nvSpPr>
          <p:cNvPr id="16" name="Text 14"/>
          <p:cNvSpPr txBox="1"/>
          <p:nvPr/>
        </p:nvSpPr>
        <p:spPr>
          <a:xfrm>
            <a:off x="960120" y="413308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txBox="1"/>
          <p:nvPr/>
        </p:nvSpPr>
        <p:spPr>
          <a:xfrm>
            <a:off x="1554480" y="4187952"/>
            <a:ext cx="4114800" cy="365760"/>
          </a:xfrm>
          <a:prstGeom prst="rect">
            <a:avLst/>
          </a:prstGeom>
          <a:noFill/>
          <a:ln/>
        </p:spPr>
        <p:txBody>
          <a:bodyPr wrap="square" lIns="0" tIns="0" rIns="0" bIns="0" rtlCol="0" anchor="ctr"/>
          <a:lstStyle/>
          <a:p>
            <a:pPr indent="0" marL="0">
              <a:buNone/>
            </a:pPr>
            <a:r>
              <a:rPr lang="en-US" sz="1900" b="1" dirty="0">
                <a:solidFill>
                  <a:srgbClr val="16262A"/>
                </a:solidFill>
                <a:latin typeface="Cambria" pitchFamily="34" charset="0"/>
                <a:ea typeface="Cambria" pitchFamily="34" charset="-122"/>
                <a:cs typeface="Cambria" pitchFamily="34" charset="-120"/>
              </a:rPr>
              <a:t>Cierre</a:t>
            </a:r>
            <a:endParaRPr lang="en-US" sz="1900" dirty="0"/>
          </a:p>
        </p:txBody>
      </p:sp>
      <p:sp>
        <p:nvSpPr>
          <p:cNvPr id="18" name="Text 16"/>
          <p:cNvSpPr txBox="1"/>
          <p:nvPr/>
        </p:nvSpPr>
        <p:spPr>
          <a:xfrm>
            <a:off x="960120" y="4709160"/>
            <a:ext cx="4663440" cy="868680"/>
          </a:xfrm>
          <a:prstGeom prst="rect">
            <a:avLst/>
          </a:prstGeom>
          <a:noFill/>
          <a:ln/>
        </p:spPr>
        <p:txBody>
          <a:bodyPr wrap="square" lIns="0" tIns="0" rIns="0" bIns="0" rtlCol="0" anchor="ctr"/>
          <a:lstStyle/>
          <a:p>
            <a:pPr indent="0" marL="0">
              <a:lnSpc>
                <a:spcPts val="1900"/>
              </a:lnSpc>
              <a:buNone/>
            </a:pPr>
            <a:r>
              <a:rPr lang="en-US" sz="1350" dirty="0">
                <a:solidFill>
                  <a:srgbClr val="5A6B70"/>
                </a:solidFill>
                <a:latin typeface="Calibri" pitchFamily="34" charset="0"/>
                <a:ea typeface="Calibri" pitchFamily="34" charset="-122"/>
                <a:cs typeface="Calibri" pitchFamily="34" charset="-120"/>
              </a:rPr>
              <a:t>Reflexión que explique el impacto de la virtud en el desarrollo del carácter y la excelencia profesional.</a:t>
            </a:r>
            <a:endParaRPr lang="en-US" sz="1350" dirty="0"/>
          </a:p>
        </p:txBody>
      </p:sp>
      <p:sp>
        <p:nvSpPr>
          <p:cNvPr id="19" name="Shape 17"/>
          <p:cNvSpPr/>
          <p:nvPr/>
        </p:nvSpPr>
        <p:spPr>
          <a:xfrm>
            <a:off x="6217920" y="3840480"/>
            <a:ext cx="5303520" cy="1874520"/>
          </a:xfrm>
          <a:prstGeom prst="roundRect">
            <a:avLst>
              <a:gd name="adj" fmla="val 4878"/>
            </a:avLst>
          </a:prstGeom>
          <a:solidFill>
            <a:srgbClr val="FFFFFF"/>
          </a:solidFill>
          <a:ln w="12700">
            <a:solidFill>
              <a:srgbClr val="CFE2E3"/>
            </a:solidFill>
            <a:prstDash val="solid"/>
          </a:ln>
        </p:spPr>
      </p:sp>
      <p:sp>
        <p:nvSpPr>
          <p:cNvPr id="20" name="Shape 18"/>
          <p:cNvSpPr/>
          <p:nvPr/>
        </p:nvSpPr>
        <p:spPr>
          <a:xfrm>
            <a:off x="6537960" y="4133088"/>
            <a:ext cx="457200" cy="457200"/>
          </a:xfrm>
          <a:prstGeom prst="ellipse">
            <a:avLst/>
          </a:prstGeom>
          <a:solidFill>
            <a:srgbClr val="028090"/>
          </a:solidFill>
          <a:ln/>
        </p:spPr>
      </p:sp>
      <p:sp>
        <p:nvSpPr>
          <p:cNvPr id="21" name="Text 19"/>
          <p:cNvSpPr txBox="1"/>
          <p:nvPr/>
        </p:nvSpPr>
        <p:spPr>
          <a:xfrm>
            <a:off x="6537960" y="413308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txBox="1"/>
          <p:nvPr/>
        </p:nvSpPr>
        <p:spPr>
          <a:xfrm>
            <a:off x="7132320" y="4187952"/>
            <a:ext cx="4114800" cy="365760"/>
          </a:xfrm>
          <a:prstGeom prst="rect">
            <a:avLst/>
          </a:prstGeom>
          <a:noFill/>
          <a:ln/>
        </p:spPr>
        <p:txBody>
          <a:bodyPr wrap="square" lIns="0" tIns="0" rIns="0" bIns="0" rtlCol="0" anchor="ctr"/>
          <a:lstStyle/>
          <a:p>
            <a:pPr indent="0" marL="0">
              <a:buNone/>
            </a:pPr>
            <a:r>
              <a:rPr lang="en-US" sz="1900" b="1" dirty="0">
                <a:solidFill>
                  <a:srgbClr val="16262A"/>
                </a:solidFill>
                <a:latin typeface="Cambria" pitchFamily="34" charset="0"/>
                <a:ea typeface="Cambria" pitchFamily="34" charset="-122"/>
                <a:cs typeface="Cambria" pitchFamily="34" charset="-120"/>
              </a:rPr>
              <a:t>Preguntas individuales</a:t>
            </a:r>
            <a:endParaRPr lang="en-US" sz="1900" dirty="0"/>
          </a:p>
        </p:txBody>
      </p:sp>
      <p:sp>
        <p:nvSpPr>
          <p:cNvPr id="23" name="Text 21"/>
          <p:cNvSpPr txBox="1"/>
          <p:nvPr/>
        </p:nvSpPr>
        <p:spPr>
          <a:xfrm>
            <a:off x="6537960" y="4709160"/>
            <a:ext cx="4663440" cy="868680"/>
          </a:xfrm>
          <a:prstGeom prst="rect">
            <a:avLst/>
          </a:prstGeom>
          <a:noFill/>
          <a:ln/>
        </p:spPr>
        <p:txBody>
          <a:bodyPr wrap="square" lIns="0" tIns="0" rIns="0" bIns="0" rtlCol="0" anchor="ctr"/>
          <a:lstStyle/>
          <a:p>
            <a:pPr indent="0" marL="0">
              <a:lnSpc>
                <a:spcPts val="1900"/>
              </a:lnSpc>
              <a:buNone/>
            </a:pPr>
            <a:r>
              <a:rPr lang="en-US" sz="1350" dirty="0">
                <a:solidFill>
                  <a:srgbClr val="5A6B70"/>
                </a:solidFill>
                <a:latin typeface="Calibri" pitchFamily="34" charset="0"/>
                <a:ea typeface="Calibri" pitchFamily="34" charset="-122"/>
                <a:cs typeface="Calibri" pitchFamily="34" charset="-120"/>
              </a:rPr>
              <a:t>Ronda de preguntas del docente: respondan con lenguaje técnico y profundicen en los aspectos éticos expuestos.</a:t>
            </a:r>
            <a:endParaRPr lang="en-US" sz="1350" dirty="0"/>
          </a:p>
        </p:txBody>
      </p:sp>
      <p:sp>
        <p:nvSpPr>
          <p:cNvPr id="24" name="Text 22"/>
          <p:cNvSpPr txBox="1"/>
          <p:nvPr/>
        </p:nvSpPr>
        <p:spPr>
          <a:xfrm>
            <a:off x="640080" y="6035040"/>
            <a:ext cx="10881360" cy="320040"/>
          </a:xfrm>
          <a:prstGeom prst="rect">
            <a:avLst/>
          </a:prstGeom>
          <a:noFill/>
          <a:ln/>
        </p:spPr>
        <p:txBody>
          <a:bodyPr wrap="square" lIns="0" tIns="0" rIns="0" bIns="0" rtlCol="0" anchor="ctr"/>
          <a:lstStyle/>
          <a:p>
            <a:pPr indent="0" marL="0">
              <a:buNone/>
            </a:pPr>
            <a:r>
              <a:rPr lang="en-US" sz="1350" i="1" dirty="0">
                <a:solidFill>
                  <a:srgbClr val="028090"/>
                </a:solidFill>
                <a:latin typeface="Calibri" pitchFamily="34" charset="0"/>
                <a:ea typeface="Calibri" pitchFamily="34" charset="-122"/>
                <a:cs typeface="Calibri" pitchFamily="34" charset="-120"/>
              </a:rPr>
              <a:t>La presentación se apoya en el trabajo realizado durante la semana 4.</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indent="0" marL="0">
              <a:buNone/>
            </a:pPr>
            <a:r>
              <a:rPr lang="en-US" sz="1300" b="1" spc="160" kern="0" dirty="0">
                <a:solidFill>
                  <a:srgbClr val="028090"/>
                </a:solidFill>
                <a:latin typeface="Calibri" pitchFamily="34" charset="0"/>
                <a:ea typeface="Calibri" pitchFamily="34" charset="-122"/>
                <a:cs typeface="Calibri" pitchFamily="34" charset="-120"/>
              </a:rPr>
              <a:t>SEMANA 5  |  ASPECTOS FORMALES</a:t>
            </a:r>
            <a:endParaRPr lang="en-US" sz="13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6262A"/>
                </a:solidFill>
                <a:latin typeface="Cambria" pitchFamily="34" charset="0"/>
                <a:ea typeface="Cambria" pitchFamily="34" charset="-122"/>
                <a:cs typeface="Cambria" pitchFamily="34" charset="-120"/>
              </a:rPr>
              <a:t>Condiciones que deben cumplir</a:t>
            </a:r>
            <a:endParaRPr lang="en-US" sz="3400" dirty="0"/>
          </a:p>
        </p:txBody>
      </p:sp>
      <p:sp>
        <p:nvSpPr>
          <p:cNvPr id="4" name="Shape 2"/>
          <p:cNvSpPr/>
          <p:nvPr/>
        </p:nvSpPr>
        <p:spPr>
          <a:xfrm>
            <a:off x="640080" y="1783080"/>
            <a:ext cx="3200400" cy="3840480"/>
          </a:xfrm>
          <a:prstGeom prst="roundRect">
            <a:avLst>
              <a:gd name="adj" fmla="val 3429"/>
            </a:avLst>
          </a:prstGeom>
          <a:solidFill>
            <a:srgbClr val="05323B"/>
          </a:solidFill>
          <a:ln/>
        </p:spPr>
      </p:sp>
      <p:sp>
        <p:nvSpPr>
          <p:cNvPr id="5" name="Text 3"/>
          <p:cNvSpPr txBox="1"/>
          <p:nvPr/>
        </p:nvSpPr>
        <p:spPr>
          <a:xfrm>
            <a:off x="640080" y="2331720"/>
            <a:ext cx="3200400" cy="1188720"/>
          </a:xfrm>
          <a:prstGeom prst="rect">
            <a:avLst/>
          </a:prstGeom>
          <a:noFill/>
          <a:ln/>
        </p:spPr>
        <p:txBody>
          <a:bodyPr wrap="square" lIns="0" tIns="0" rIns="0" bIns="0" rtlCol="0" anchor="ctr"/>
          <a:lstStyle/>
          <a:p>
            <a:pPr algn="ctr" indent="0" marL="0">
              <a:buNone/>
            </a:pPr>
            <a:r>
              <a:rPr lang="en-US" sz="8400" b="1" dirty="0">
                <a:solidFill>
                  <a:srgbClr val="02C39A"/>
                </a:solidFill>
                <a:latin typeface="Cambria" pitchFamily="34" charset="0"/>
                <a:ea typeface="Cambria" pitchFamily="34" charset="-122"/>
                <a:cs typeface="Cambria" pitchFamily="34" charset="-120"/>
              </a:rPr>
              <a:t>5</a:t>
            </a:r>
            <a:endParaRPr lang="en-US" sz="8400" dirty="0"/>
          </a:p>
        </p:txBody>
      </p:sp>
      <p:sp>
        <p:nvSpPr>
          <p:cNvPr id="6" name="Text 4"/>
          <p:cNvSpPr txBox="1"/>
          <p:nvPr/>
        </p:nvSpPr>
        <p:spPr>
          <a:xfrm>
            <a:off x="640080" y="3520440"/>
            <a:ext cx="3200400" cy="365760"/>
          </a:xfrm>
          <a:prstGeom prst="rect">
            <a:avLst/>
          </a:prstGeom>
          <a:noFill/>
          <a:ln/>
        </p:spPr>
        <p:txBody>
          <a:bodyPr wrap="square" lIns="0" tIns="0" rIns="0" bIns="0" rtlCol="0" anchor="ctr"/>
          <a:lstStyle/>
          <a:p>
            <a:pPr algn="ctr" indent="0" marL="0">
              <a:buNone/>
            </a:pPr>
            <a:r>
              <a:rPr lang="en-US" sz="2200" dirty="0">
                <a:solidFill>
                  <a:srgbClr val="FFFFFF"/>
                </a:solidFill>
                <a:latin typeface="Cambria" pitchFamily="34" charset="0"/>
                <a:ea typeface="Cambria" pitchFamily="34" charset="-122"/>
                <a:cs typeface="Cambria" pitchFamily="34" charset="-120"/>
              </a:rPr>
              <a:t>minutos</a:t>
            </a:r>
            <a:endParaRPr lang="en-US" sz="2200" dirty="0"/>
          </a:p>
        </p:txBody>
      </p:sp>
      <p:sp>
        <p:nvSpPr>
          <p:cNvPr id="7" name="Text 5"/>
          <p:cNvSpPr txBox="1"/>
          <p:nvPr/>
        </p:nvSpPr>
        <p:spPr>
          <a:xfrm>
            <a:off x="1005840" y="3977640"/>
            <a:ext cx="2468880" cy="640080"/>
          </a:xfrm>
          <a:prstGeom prst="rect">
            <a:avLst/>
          </a:prstGeom>
          <a:noFill/>
          <a:ln/>
        </p:spPr>
        <p:txBody>
          <a:bodyPr wrap="square" lIns="0" tIns="0" rIns="0" bIns="0" rtlCol="0" anchor="ctr"/>
          <a:lstStyle/>
          <a:p>
            <a:pPr algn="ctr" indent="0" marL="0">
              <a:lnSpc>
                <a:spcPts val="1800"/>
              </a:lnSpc>
              <a:buNone/>
            </a:pPr>
            <a:r>
              <a:rPr lang="en-US" sz="1300" dirty="0">
                <a:solidFill>
                  <a:srgbClr val="9EC0C2"/>
                </a:solidFill>
                <a:latin typeface="Calibri" pitchFamily="34" charset="0"/>
                <a:ea typeface="Calibri" pitchFamily="34" charset="-122"/>
                <a:cs typeface="Calibri" pitchFamily="34" charset="-120"/>
              </a:rPr>
              <a:t>Tiempo máximo de presentación por equipo</a:t>
            </a:r>
            <a:endParaRPr lang="en-US" sz="1300" dirty="0"/>
          </a:p>
        </p:txBody>
      </p:sp>
      <p:sp>
        <p:nvSpPr>
          <p:cNvPr id="8" name="Shape 6"/>
          <p:cNvSpPr/>
          <p:nvPr/>
        </p:nvSpPr>
        <p:spPr>
          <a:xfrm>
            <a:off x="4160520" y="1837944"/>
            <a:ext cx="310896" cy="310896"/>
          </a:xfrm>
          <a:prstGeom prst="ellipse">
            <a:avLst/>
          </a:prstGeom>
          <a:solidFill>
            <a:srgbClr val="028090"/>
          </a:solidFill>
          <a:ln/>
        </p:spPr>
      </p:sp>
      <p:sp>
        <p:nvSpPr>
          <p:cNvPr id="9" name="Text 7"/>
          <p:cNvSpPr txBox="1"/>
          <p:nvPr/>
        </p:nvSpPr>
        <p:spPr>
          <a:xfrm>
            <a:off x="4160520" y="18379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4617720" y="1783080"/>
            <a:ext cx="6949440" cy="292608"/>
          </a:xfrm>
          <a:prstGeom prst="rect">
            <a:avLst/>
          </a:prstGeom>
          <a:noFill/>
          <a:ln/>
        </p:spPr>
        <p:txBody>
          <a:bodyPr wrap="square" lIns="0" tIns="0" rIns="0" bIns="0" rtlCol="0" anchor="ctr"/>
          <a:lstStyle/>
          <a:p>
            <a:pPr indent="0" marL="0">
              <a:buNone/>
            </a:pPr>
            <a:r>
              <a:rPr lang="en-US" sz="1500" b="1" dirty="0">
                <a:solidFill>
                  <a:srgbClr val="16262A"/>
                </a:solidFill>
                <a:latin typeface="Calibri" pitchFamily="34" charset="0"/>
                <a:ea typeface="Calibri" pitchFamily="34" charset="-122"/>
                <a:cs typeface="Calibri" pitchFamily="34" charset="-120"/>
              </a:rPr>
              <a:t>Estructura</a:t>
            </a:r>
            <a:endParaRPr lang="en-US" sz="1500" dirty="0"/>
          </a:p>
        </p:txBody>
      </p:sp>
      <p:sp>
        <p:nvSpPr>
          <p:cNvPr id="11" name="Text 9"/>
          <p:cNvSpPr txBox="1"/>
          <p:nvPr/>
        </p:nvSpPr>
        <p:spPr>
          <a:xfrm>
            <a:off x="4617720" y="2075688"/>
            <a:ext cx="6949440" cy="365760"/>
          </a:xfrm>
          <a:prstGeom prst="rect">
            <a:avLst/>
          </a:prstGeom>
          <a:noFill/>
          <a:ln/>
        </p:spPr>
        <p:txBody>
          <a:bodyPr wrap="square" lIns="0" tIns="0" rIns="0" bIns="0" rtlCol="0" anchor="ctr"/>
          <a:lstStyle/>
          <a:p>
            <a:pPr indent="0" marL="0">
              <a:buNone/>
            </a:pPr>
            <a:r>
              <a:rPr lang="en-US" sz="1350" dirty="0">
                <a:solidFill>
                  <a:srgbClr val="5A6B70"/>
                </a:solidFill>
                <a:latin typeface="Calibri" pitchFamily="34" charset="0"/>
                <a:ea typeface="Calibri" pitchFamily="34" charset="-122"/>
                <a:cs typeface="Calibri" pitchFamily="34" charset="-120"/>
              </a:rPr>
              <a:t>Introducción, desarrollo, cierre y ronda de preguntas.</a:t>
            </a:r>
            <a:endParaRPr lang="en-US" sz="1350" dirty="0"/>
          </a:p>
        </p:txBody>
      </p:sp>
      <p:sp>
        <p:nvSpPr>
          <p:cNvPr id="12" name="Shape 10"/>
          <p:cNvSpPr/>
          <p:nvPr/>
        </p:nvSpPr>
        <p:spPr>
          <a:xfrm>
            <a:off x="4160520" y="2615184"/>
            <a:ext cx="310896" cy="310896"/>
          </a:xfrm>
          <a:prstGeom prst="ellipse">
            <a:avLst/>
          </a:prstGeom>
          <a:solidFill>
            <a:srgbClr val="028090"/>
          </a:solidFill>
          <a:ln/>
        </p:spPr>
      </p:sp>
      <p:sp>
        <p:nvSpPr>
          <p:cNvPr id="13" name="Text 11"/>
          <p:cNvSpPr txBox="1"/>
          <p:nvPr/>
        </p:nvSpPr>
        <p:spPr>
          <a:xfrm>
            <a:off x="4160520" y="26151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4617720" y="2560320"/>
            <a:ext cx="6949440" cy="292608"/>
          </a:xfrm>
          <a:prstGeom prst="rect">
            <a:avLst/>
          </a:prstGeom>
          <a:noFill/>
          <a:ln/>
        </p:spPr>
        <p:txBody>
          <a:bodyPr wrap="square" lIns="0" tIns="0" rIns="0" bIns="0" rtlCol="0" anchor="ctr"/>
          <a:lstStyle/>
          <a:p>
            <a:pPr indent="0" marL="0">
              <a:buNone/>
            </a:pPr>
            <a:r>
              <a:rPr lang="en-US" sz="1500" b="1" dirty="0">
                <a:solidFill>
                  <a:srgbClr val="16262A"/>
                </a:solidFill>
                <a:latin typeface="Calibri" pitchFamily="34" charset="0"/>
                <a:ea typeface="Calibri" pitchFamily="34" charset="-122"/>
                <a:cs typeface="Calibri" pitchFamily="34" charset="-120"/>
              </a:rPr>
              <a:t>Cumplimiento del horario</a:t>
            </a:r>
            <a:endParaRPr lang="en-US" sz="1500" dirty="0"/>
          </a:p>
        </p:txBody>
      </p:sp>
      <p:sp>
        <p:nvSpPr>
          <p:cNvPr id="15" name="Text 13"/>
          <p:cNvSpPr txBox="1"/>
          <p:nvPr/>
        </p:nvSpPr>
        <p:spPr>
          <a:xfrm>
            <a:off x="4617720" y="2852928"/>
            <a:ext cx="6949440" cy="365760"/>
          </a:xfrm>
          <a:prstGeom prst="rect">
            <a:avLst/>
          </a:prstGeom>
          <a:noFill/>
          <a:ln/>
        </p:spPr>
        <p:txBody>
          <a:bodyPr wrap="square" lIns="0" tIns="0" rIns="0" bIns="0" rtlCol="0" anchor="ctr"/>
          <a:lstStyle/>
          <a:p>
            <a:pPr indent="0" marL="0">
              <a:buNone/>
            </a:pPr>
            <a:r>
              <a:rPr lang="en-US" sz="1350" dirty="0">
                <a:solidFill>
                  <a:srgbClr val="5A6B70"/>
                </a:solidFill>
                <a:latin typeface="Calibri" pitchFamily="34" charset="0"/>
                <a:ea typeface="Calibri" pitchFamily="34" charset="-122"/>
                <a:cs typeface="Calibri" pitchFamily="34" charset="-120"/>
              </a:rPr>
              <a:t>Es imprescindible respetar el horario establecido, sin incurrir en retrasos.</a:t>
            </a:r>
            <a:endParaRPr lang="en-US" sz="1350" dirty="0"/>
          </a:p>
        </p:txBody>
      </p:sp>
      <p:sp>
        <p:nvSpPr>
          <p:cNvPr id="16" name="Shape 14"/>
          <p:cNvSpPr/>
          <p:nvPr/>
        </p:nvSpPr>
        <p:spPr>
          <a:xfrm>
            <a:off x="4160520" y="3392424"/>
            <a:ext cx="310896" cy="310896"/>
          </a:xfrm>
          <a:prstGeom prst="ellipse">
            <a:avLst/>
          </a:prstGeom>
          <a:solidFill>
            <a:srgbClr val="028090"/>
          </a:solidFill>
          <a:ln/>
        </p:spPr>
      </p:sp>
      <p:sp>
        <p:nvSpPr>
          <p:cNvPr id="17" name="Text 15"/>
          <p:cNvSpPr txBox="1"/>
          <p:nvPr/>
        </p:nvSpPr>
        <p:spPr>
          <a:xfrm>
            <a:off x="4160520" y="33924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4617720" y="3337560"/>
            <a:ext cx="6949440" cy="292608"/>
          </a:xfrm>
          <a:prstGeom prst="rect">
            <a:avLst/>
          </a:prstGeom>
          <a:noFill/>
          <a:ln/>
        </p:spPr>
        <p:txBody>
          <a:bodyPr wrap="square" lIns="0" tIns="0" rIns="0" bIns="0" rtlCol="0" anchor="ctr"/>
          <a:lstStyle/>
          <a:p>
            <a:pPr indent="0" marL="0">
              <a:buNone/>
            </a:pPr>
            <a:r>
              <a:rPr lang="en-US" sz="1500" b="1" dirty="0">
                <a:solidFill>
                  <a:srgbClr val="16262A"/>
                </a:solidFill>
                <a:latin typeface="Calibri" pitchFamily="34" charset="0"/>
                <a:ea typeface="Calibri" pitchFamily="34" charset="-122"/>
                <a:cs typeface="Calibri" pitchFamily="34" charset="-120"/>
              </a:rPr>
              <a:t>Uso del tiempo asignado</a:t>
            </a:r>
            <a:endParaRPr lang="en-US" sz="1500" dirty="0"/>
          </a:p>
        </p:txBody>
      </p:sp>
      <p:sp>
        <p:nvSpPr>
          <p:cNvPr id="19" name="Text 17"/>
          <p:cNvSpPr txBox="1"/>
          <p:nvPr/>
        </p:nvSpPr>
        <p:spPr>
          <a:xfrm>
            <a:off x="4617720" y="3630168"/>
            <a:ext cx="6949440" cy="365760"/>
          </a:xfrm>
          <a:prstGeom prst="rect">
            <a:avLst/>
          </a:prstGeom>
          <a:noFill/>
          <a:ln/>
        </p:spPr>
        <p:txBody>
          <a:bodyPr wrap="square" lIns="0" tIns="0" rIns="0" bIns="0" rtlCol="0" anchor="ctr"/>
          <a:lstStyle/>
          <a:p>
            <a:pPr indent="0" marL="0">
              <a:buNone/>
            </a:pPr>
            <a:r>
              <a:rPr lang="en-US" sz="1350" dirty="0">
                <a:solidFill>
                  <a:srgbClr val="5A6B70"/>
                </a:solidFill>
                <a:latin typeface="Calibri" pitchFamily="34" charset="0"/>
                <a:ea typeface="Calibri" pitchFamily="34" charset="-122"/>
                <a:cs typeface="Calibri" pitchFamily="34" charset="-120"/>
              </a:rPr>
              <a:t>Deben emplear el tiempo correspondiente a la presentación: cinco minutos.</a:t>
            </a:r>
            <a:endParaRPr lang="en-US" sz="1350" dirty="0"/>
          </a:p>
        </p:txBody>
      </p:sp>
      <p:sp>
        <p:nvSpPr>
          <p:cNvPr id="20" name="Shape 18"/>
          <p:cNvSpPr/>
          <p:nvPr/>
        </p:nvSpPr>
        <p:spPr>
          <a:xfrm>
            <a:off x="4160520" y="4169664"/>
            <a:ext cx="310896" cy="310896"/>
          </a:xfrm>
          <a:prstGeom prst="ellipse">
            <a:avLst/>
          </a:prstGeom>
          <a:solidFill>
            <a:srgbClr val="028090"/>
          </a:solidFill>
          <a:ln/>
        </p:spPr>
      </p:sp>
      <p:sp>
        <p:nvSpPr>
          <p:cNvPr id="21" name="Text 19"/>
          <p:cNvSpPr txBox="1"/>
          <p:nvPr/>
        </p:nvSpPr>
        <p:spPr>
          <a:xfrm>
            <a:off x="4160520" y="41696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4617720" y="4114800"/>
            <a:ext cx="6949440" cy="292608"/>
          </a:xfrm>
          <a:prstGeom prst="rect">
            <a:avLst/>
          </a:prstGeom>
          <a:noFill/>
          <a:ln/>
        </p:spPr>
        <p:txBody>
          <a:bodyPr wrap="square" lIns="0" tIns="0" rIns="0" bIns="0" rtlCol="0" anchor="ctr"/>
          <a:lstStyle/>
          <a:p>
            <a:pPr indent="0" marL="0">
              <a:buNone/>
            </a:pPr>
            <a:r>
              <a:rPr lang="en-US" sz="1500" b="1" dirty="0">
                <a:solidFill>
                  <a:srgbClr val="16262A"/>
                </a:solidFill>
                <a:latin typeface="Calibri" pitchFamily="34" charset="0"/>
                <a:ea typeface="Calibri" pitchFamily="34" charset="-122"/>
                <a:cs typeface="Calibri" pitchFamily="34" charset="-120"/>
              </a:rPr>
              <a:t>Lenguaje técnico</a:t>
            </a:r>
            <a:endParaRPr lang="en-US" sz="1500" dirty="0"/>
          </a:p>
        </p:txBody>
      </p:sp>
      <p:sp>
        <p:nvSpPr>
          <p:cNvPr id="23" name="Text 21"/>
          <p:cNvSpPr txBox="1"/>
          <p:nvPr/>
        </p:nvSpPr>
        <p:spPr>
          <a:xfrm>
            <a:off x="4617720" y="4407408"/>
            <a:ext cx="6949440" cy="365760"/>
          </a:xfrm>
          <a:prstGeom prst="rect">
            <a:avLst/>
          </a:prstGeom>
          <a:noFill/>
          <a:ln/>
        </p:spPr>
        <p:txBody>
          <a:bodyPr wrap="square" lIns="0" tIns="0" rIns="0" bIns="0" rtlCol="0" anchor="ctr"/>
          <a:lstStyle/>
          <a:p>
            <a:pPr indent="0" marL="0">
              <a:buNone/>
            </a:pPr>
            <a:r>
              <a:rPr lang="en-US" sz="1350" dirty="0">
                <a:solidFill>
                  <a:srgbClr val="5A6B70"/>
                </a:solidFill>
                <a:latin typeface="Calibri" pitchFamily="34" charset="0"/>
                <a:ea typeface="Calibri" pitchFamily="34" charset="-122"/>
                <a:cs typeface="Calibri" pitchFamily="34" charset="-120"/>
              </a:rPr>
              <a:t>Utilicen el lenguaje propio de la ética y de la carrera.</a:t>
            </a:r>
            <a:endParaRPr lang="en-US" sz="1350" dirty="0"/>
          </a:p>
        </p:txBody>
      </p:sp>
      <p:sp>
        <p:nvSpPr>
          <p:cNvPr id="24" name="Shape 22"/>
          <p:cNvSpPr/>
          <p:nvPr/>
        </p:nvSpPr>
        <p:spPr>
          <a:xfrm>
            <a:off x="4160520" y="4946904"/>
            <a:ext cx="310896" cy="310896"/>
          </a:xfrm>
          <a:prstGeom prst="ellipse">
            <a:avLst/>
          </a:prstGeom>
          <a:solidFill>
            <a:srgbClr val="028090"/>
          </a:solidFill>
          <a:ln/>
        </p:spPr>
      </p:sp>
      <p:sp>
        <p:nvSpPr>
          <p:cNvPr id="25" name="Text 23"/>
          <p:cNvSpPr txBox="1"/>
          <p:nvPr/>
        </p:nvSpPr>
        <p:spPr>
          <a:xfrm>
            <a:off x="4160520" y="49469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txBox="1"/>
          <p:nvPr/>
        </p:nvSpPr>
        <p:spPr>
          <a:xfrm>
            <a:off x="4617720" y="4892040"/>
            <a:ext cx="6949440" cy="292608"/>
          </a:xfrm>
          <a:prstGeom prst="rect">
            <a:avLst/>
          </a:prstGeom>
          <a:noFill/>
          <a:ln/>
        </p:spPr>
        <p:txBody>
          <a:bodyPr wrap="square" lIns="0" tIns="0" rIns="0" bIns="0" rtlCol="0" anchor="ctr"/>
          <a:lstStyle/>
          <a:p>
            <a:pPr indent="0" marL="0">
              <a:buNone/>
            </a:pPr>
            <a:r>
              <a:rPr lang="en-US" sz="1500" b="1" dirty="0">
                <a:solidFill>
                  <a:srgbClr val="16262A"/>
                </a:solidFill>
                <a:latin typeface="Calibri" pitchFamily="34" charset="0"/>
                <a:ea typeface="Calibri" pitchFamily="34" charset="-122"/>
                <a:cs typeface="Calibri" pitchFamily="34" charset="-120"/>
              </a:rPr>
              <a:t>Evaluación individual</a:t>
            </a:r>
            <a:endParaRPr lang="en-US" sz="1500" dirty="0"/>
          </a:p>
        </p:txBody>
      </p:sp>
      <p:sp>
        <p:nvSpPr>
          <p:cNvPr id="27" name="Text 25"/>
          <p:cNvSpPr txBox="1"/>
          <p:nvPr/>
        </p:nvSpPr>
        <p:spPr>
          <a:xfrm>
            <a:off x="4617720" y="5184648"/>
            <a:ext cx="6949440" cy="365760"/>
          </a:xfrm>
          <a:prstGeom prst="rect">
            <a:avLst/>
          </a:prstGeom>
          <a:noFill/>
          <a:ln/>
        </p:spPr>
        <p:txBody>
          <a:bodyPr wrap="square" lIns="0" tIns="0" rIns="0" bIns="0" rtlCol="0" anchor="ctr"/>
          <a:lstStyle/>
          <a:p>
            <a:pPr indent="0" marL="0">
              <a:buNone/>
            </a:pPr>
            <a:r>
              <a:rPr lang="en-US" sz="1350" dirty="0">
                <a:solidFill>
                  <a:srgbClr val="5A6B70"/>
                </a:solidFill>
                <a:latin typeface="Calibri" pitchFamily="34" charset="0"/>
                <a:ea typeface="Calibri" pitchFamily="34" charset="-122"/>
                <a:cs typeface="Calibri" pitchFamily="34" charset="-120"/>
              </a:rPr>
              <a:t>La calificación de la presentación es individual, aunque el equipo trabaje en conjunto.</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indent="0" marL="0">
              <a:buNone/>
            </a:pPr>
            <a:r>
              <a:rPr lang="en-US" sz="1300" b="1" spc="160" kern="0" dirty="0">
                <a:solidFill>
                  <a:srgbClr val="028090"/>
                </a:solidFill>
                <a:latin typeface="Calibri" pitchFamily="34" charset="0"/>
                <a:ea typeface="Calibri" pitchFamily="34" charset="-122"/>
                <a:cs typeface="Calibri" pitchFamily="34" charset="-120"/>
              </a:rPr>
              <a:t>CONSIDERACIONES</a:t>
            </a:r>
            <a:endParaRPr lang="en-US" sz="13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6262A"/>
                </a:solidFill>
                <a:latin typeface="Cambria" pitchFamily="34" charset="0"/>
                <a:ea typeface="Cambria" pitchFamily="34" charset="-122"/>
                <a:cs typeface="Cambria" pitchFamily="34" charset="-120"/>
              </a:rPr>
              <a:t>Criterios para una presentación exitosa</a:t>
            </a:r>
            <a:endParaRPr lang="en-US" sz="3400" dirty="0"/>
          </a:p>
        </p:txBody>
      </p:sp>
      <p:sp>
        <p:nvSpPr>
          <p:cNvPr id="4" name="Shape 2"/>
          <p:cNvSpPr/>
          <p:nvPr/>
        </p:nvSpPr>
        <p:spPr>
          <a:xfrm>
            <a:off x="640080" y="1737360"/>
            <a:ext cx="10881360" cy="713232"/>
          </a:xfrm>
          <a:prstGeom prst="roundRect">
            <a:avLst>
              <a:gd name="adj" fmla="val 10256"/>
            </a:avLst>
          </a:prstGeom>
          <a:solidFill>
            <a:srgbClr val="EAF4F4"/>
          </a:solidFill>
          <a:ln w="12700">
            <a:solidFill>
              <a:srgbClr val="DCEAEB"/>
            </a:solidFill>
            <a:prstDash val="solid"/>
          </a:ln>
        </p:spPr>
      </p:sp>
      <p:sp>
        <p:nvSpPr>
          <p:cNvPr id="5" name="Text 3"/>
          <p:cNvSpPr txBox="1"/>
          <p:nvPr/>
        </p:nvSpPr>
        <p:spPr>
          <a:xfrm>
            <a:off x="914400" y="1737360"/>
            <a:ext cx="822960" cy="713232"/>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IE1</a:t>
            </a:r>
            <a:endParaRPr lang="en-US" sz="1600" dirty="0"/>
          </a:p>
        </p:txBody>
      </p:sp>
      <p:sp>
        <p:nvSpPr>
          <p:cNvPr id="6" name="Text 4"/>
          <p:cNvSpPr txBox="1"/>
          <p:nvPr/>
        </p:nvSpPr>
        <p:spPr>
          <a:xfrm>
            <a:off x="1783080" y="1737360"/>
            <a:ext cx="9418320" cy="713232"/>
          </a:xfrm>
          <a:prstGeom prst="rect">
            <a:avLst/>
          </a:prstGeom>
          <a:noFill/>
          <a:ln/>
        </p:spPr>
        <p:txBody>
          <a:bodyPr wrap="square" lIns="0" tIns="0" rIns="0" bIns="0" rtlCol="0" anchor="ctr"/>
          <a:lstStyle/>
          <a:p>
            <a:pPr indent="0" marL="0">
              <a:buNone/>
            </a:pPr>
            <a:r>
              <a:rPr lang="en-US" sz="1400" dirty="0">
                <a:solidFill>
                  <a:srgbClr val="16262A"/>
                </a:solidFill>
                <a:latin typeface="Calibri" pitchFamily="34" charset="0"/>
                <a:ea typeface="Calibri" pitchFamily="34" charset="-122"/>
                <a:cs typeface="Calibri" pitchFamily="34" charset="-120"/>
              </a:rPr>
              <a:t>Organiza la presentación considerando la estructura propuesta.</a:t>
            </a:r>
            <a:endParaRPr lang="en-US" sz="1400" dirty="0"/>
          </a:p>
        </p:txBody>
      </p:sp>
      <p:sp>
        <p:nvSpPr>
          <p:cNvPr id="7" name="Shape 5"/>
          <p:cNvSpPr/>
          <p:nvPr/>
        </p:nvSpPr>
        <p:spPr>
          <a:xfrm>
            <a:off x="640080" y="2606040"/>
            <a:ext cx="10881360" cy="713232"/>
          </a:xfrm>
          <a:prstGeom prst="roundRect">
            <a:avLst>
              <a:gd name="adj" fmla="val 10256"/>
            </a:avLst>
          </a:prstGeom>
          <a:solidFill>
            <a:srgbClr val="FFFFFF"/>
          </a:solidFill>
          <a:ln w="12700">
            <a:solidFill>
              <a:srgbClr val="DCEAEB"/>
            </a:solidFill>
            <a:prstDash val="solid"/>
          </a:ln>
        </p:spPr>
      </p:sp>
      <p:sp>
        <p:nvSpPr>
          <p:cNvPr id="8" name="Text 6"/>
          <p:cNvSpPr txBox="1"/>
          <p:nvPr/>
        </p:nvSpPr>
        <p:spPr>
          <a:xfrm>
            <a:off x="914400" y="2606040"/>
            <a:ext cx="822960" cy="713232"/>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IE2</a:t>
            </a:r>
            <a:endParaRPr lang="en-US" sz="1600" dirty="0"/>
          </a:p>
        </p:txBody>
      </p:sp>
      <p:sp>
        <p:nvSpPr>
          <p:cNvPr id="9" name="Text 7"/>
          <p:cNvSpPr txBox="1"/>
          <p:nvPr/>
        </p:nvSpPr>
        <p:spPr>
          <a:xfrm>
            <a:off x="1783080" y="2606040"/>
            <a:ext cx="9418320" cy="713232"/>
          </a:xfrm>
          <a:prstGeom prst="rect">
            <a:avLst/>
          </a:prstGeom>
          <a:noFill/>
          <a:ln/>
        </p:spPr>
        <p:txBody>
          <a:bodyPr wrap="square" lIns="0" tIns="0" rIns="0" bIns="0" rtlCol="0" anchor="ctr"/>
          <a:lstStyle/>
          <a:p>
            <a:pPr indent="0" marL="0">
              <a:buNone/>
            </a:pPr>
            <a:r>
              <a:rPr lang="en-US" sz="1400" dirty="0">
                <a:solidFill>
                  <a:srgbClr val="16262A"/>
                </a:solidFill>
                <a:latin typeface="Calibri" pitchFamily="34" charset="0"/>
                <a:ea typeface="Calibri" pitchFamily="34" charset="-122"/>
                <a:cs typeface="Calibri" pitchFamily="34" charset="-120"/>
              </a:rPr>
              <a:t>Utiliza el tiempo asignado de manera efectiva, respetando el límite establecido.</a:t>
            </a:r>
            <a:endParaRPr lang="en-US" sz="1400" dirty="0"/>
          </a:p>
        </p:txBody>
      </p:sp>
      <p:sp>
        <p:nvSpPr>
          <p:cNvPr id="10" name="Shape 8"/>
          <p:cNvSpPr/>
          <p:nvPr/>
        </p:nvSpPr>
        <p:spPr>
          <a:xfrm>
            <a:off x="640080" y="3474720"/>
            <a:ext cx="10881360" cy="713232"/>
          </a:xfrm>
          <a:prstGeom prst="roundRect">
            <a:avLst>
              <a:gd name="adj" fmla="val 10256"/>
            </a:avLst>
          </a:prstGeom>
          <a:solidFill>
            <a:srgbClr val="EAF4F4"/>
          </a:solidFill>
          <a:ln w="12700">
            <a:solidFill>
              <a:srgbClr val="DCEAEB"/>
            </a:solidFill>
            <a:prstDash val="solid"/>
          </a:ln>
        </p:spPr>
      </p:sp>
      <p:sp>
        <p:nvSpPr>
          <p:cNvPr id="11" name="Text 9"/>
          <p:cNvSpPr txBox="1"/>
          <p:nvPr/>
        </p:nvSpPr>
        <p:spPr>
          <a:xfrm>
            <a:off x="914400" y="3474720"/>
            <a:ext cx="822960" cy="713232"/>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IE3</a:t>
            </a:r>
            <a:endParaRPr lang="en-US" sz="1600" dirty="0"/>
          </a:p>
        </p:txBody>
      </p:sp>
      <p:sp>
        <p:nvSpPr>
          <p:cNvPr id="12" name="Text 10"/>
          <p:cNvSpPr txBox="1"/>
          <p:nvPr/>
        </p:nvSpPr>
        <p:spPr>
          <a:xfrm>
            <a:off x="1783080" y="3474720"/>
            <a:ext cx="9418320" cy="713232"/>
          </a:xfrm>
          <a:prstGeom prst="rect">
            <a:avLst/>
          </a:prstGeom>
          <a:noFill/>
          <a:ln/>
        </p:spPr>
        <p:txBody>
          <a:bodyPr wrap="square" lIns="0" tIns="0" rIns="0" bIns="0" rtlCol="0" anchor="ctr"/>
          <a:lstStyle/>
          <a:p>
            <a:pPr indent="0" marL="0">
              <a:buNone/>
            </a:pPr>
            <a:r>
              <a:rPr lang="en-US" sz="1400" dirty="0">
                <a:solidFill>
                  <a:srgbClr val="16262A"/>
                </a:solidFill>
                <a:latin typeface="Calibri" pitchFamily="34" charset="0"/>
                <a:ea typeface="Calibri" pitchFamily="34" charset="-122"/>
                <a:cs typeface="Calibri" pitchFamily="34" charset="-120"/>
              </a:rPr>
              <a:t>Expone su trabajo utilizando un lenguaje técnico propio de la disciplina.</a:t>
            </a:r>
            <a:endParaRPr lang="en-US" sz="1400" dirty="0"/>
          </a:p>
        </p:txBody>
      </p:sp>
      <p:sp>
        <p:nvSpPr>
          <p:cNvPr id="13" name="Shape 11"/>
          <p:cNvSpPr/>
          <p:nvPr/>
        </p:nvSpPr>
        <p:spPr>
          <a:xfrm>
            <a:off x="640080" y="4343400"/>
            <a:ext cx="10881360" cy="713232"/>
          </a:xfrm>
          <a:prstGeom prst="roundRect">
            <a:avLst>
              <a:gd name="adj" fmla="val 10256"/>
            </a:avLst>
          </a:prstGeom>
          <a:solidFill>
            <a:srgbClr val="FFFFFF"/>
          </a:solidFill>
          <a:ln w="12700">
            <a:solidFill>
              <a:srgbClr val="DCEAEB"/>
            </a:solidFill>
            <a:prstDash val="solid"/>
          </a:ln>
        </p:spPr>
      </p:sp>
      <p:sp>
        <p:nvSpPr>
          <p:cNvPr id="14" name="Text 12"/>
          <p:cNvSpPr txBox="1"/>
          <p:nvPr/>
        </p:nvSpPr>
        <p:spPr>
          <a:xfrm>
            <a:off x="914400" y="4343400"/>
            <a:ext cx="822960" cy="713232"/>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IE4</a:t>
            </a:r>
            <a:endParaRPr lang="en-US" sz="1600" dirty="0"/>
          </a:p>
        </p:txBody>
      </p:sp>
      <p:sp>
        <p:nvSpPr>
          <p:cNvPr id="15" name="Text 13"/>
          <p:cNvSpPr txBox="1"/>
          <p:nvPr/>
        </p:nvSpPr>
        <p:spPr>
          <a:xfrm>
            <a:off x="1783080" y="4343400"/>
            <a:ext cx="9418320" cy="713232"/>
          </a:xfrm>
          <a:prstGeom prst="rect">
            <a:avLst/>
          </a:prstGeom>
          <a:noFill/>
          <a:ln/>
        </p:spPr>
        <p:txBody>
          <a:bodyPr wrap="square" lIns="0" tIns="0" rIns="0" bIns="0" rtlCol="0" anchor="ctr"/>
          <a:lstStyle/>
          <a:p>
            <a:pPr indent="0" marL="0">
              <a:buNone/>
            </a:pPr>
            <a:r>
              <a:rPr lang="en-US" sz="1400" dirty="0">
                <a:solidFill>
                  <a:srgbClr val="16262A"/>
                </a:solidFill>
                <a:latin typeface="Calibri" pitchFamily="34" charset="0"/>
                <a:ea typeface="Calibri" pitchFamily="34" charset="-122"/>
                <a:cs typeface="Calibri" pitchFamily="34" charset="-120"/>
              </a:rPr>
              <a:t>Expone la propuesta a partir de argumentos claros, detallados y sustentados en el informe.</a:t>
            </a:r>
            <a:endParaRPr lang="en-US" sz="1400" dirty="0"/>
          </a:p>
        </p:txBody>
      </p:sp>
      <p:sp>
        <p:nvSpPr>
          <p:cNvPr id="16" name="Shape 14"/>
          <p:cNvSpPr/>
          <p:nvPr/>
        </p:nvSpPr>
        <p:spPr>
          <a:xfrm>
            <a:off x="640080" y="5212080"/>
            <a:ext cx="10881360" cy="713232"/>
          </a:xfrm>
          <a:prstGeom prst="roundRect">
            <a:avLst>
              <a:gd name="adj" fmla="val 10256"/>
            </a:avLst>
          </a:prstGeom>
          <a:solidFill>
            <a:srgbClr val="EAF4F4"/>
          </a:solidFill>
          <a:ln w="12700">
            <a:solidFill>
              <a:srgbClr val="DCEAEB"/>
            </a:solidFill>
            <a:prstDash val="solid"/>
          </a:ln>
        </p:spPr>
      </p:sp>
      <p:sp>
        <p:nvSpPr>
          <p:cNvPr id="17" name="Text 15"/>
          <p:cNvSpPr txBox="1"/>
          <p:nvPr/>
        </p:nvSpPr>
        <p:spPr>
          <a:xfrm>
            <a:off x="914400" y="5212080"/>
            <a:ext cx="822960" cy="713232"/>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IE5</a:t>
            </a:r>
            <a:endParaRPr lang="en-US" sz="1600" dirty="0"/>
          </a:p>
        </p:txBody>
      </p:sp>
      <p:sp>
        <p:nvSpPr>
          <p:cNvPr id="18" name="Text 16"/>
          <p:cNvSpPr txBox="1"/>
          <p:nvPr/>
        </p:nvSpPr>
        <p:spPr>
          <a:xfrm>
            <a:off x="1783080" y="5212080"/>
            <a:ext cx="9418320" cy="713232"/>
          </a:xfrm>
          <a:prstGeom prst="rect">
            <a:avLst/>
          </a:prstGeom>
          <a:noFill/>
          <a:ln/>
        </p:spPr>
        <p:txBody>
          <a:bodyPr wrap="square" lIns="0" tIns="0" rIns="0" bIns="0" rtlCol="0" anchor="ctr"/>
          <a:lstStyle/>
          <a:p>
            <a:pPr indent="0" marL="0">
              <a:buNone/>
            </a:pPr>
            <a:r>
              <a:rPr lang="en-US" sz="1400" dirty="0">
                <a:solidFill>
                  <a:srgbClr val="16262A"/>
                </a:solidFill>
                <a:latin typeface="Calibri" pitchFamily="34" charset="0"/>
                <a:ea typeface="Calibri" pitchFamily="34" charset="-122"/>
                <a:cs typeface="Calibri" pitchFamily="34" charset="-120"/>
              </a:rPr>
              <a:t>Responde con precisión a la ronda de preguntas establecidas por el docente, demostrando dominio de las temáticas abordadas.</a:t>
            </a:r>
            <a:endParaRPr lang="en-US" sz="1400" dirty="0"/>
          </a:p>
        </p:txBody>
      </p:sp>
      <p:sp>
        <p:nvSpPr>
          <p:cNvPr id="19" name="Text 17"/>
          <p:cNvSpPr txBox="1"/>
          <p:nvPr/>
        </p:nvSpPr>
        <p:spPr>
          <a:xfrm>
            <a:off x="640080" y="6172200"/>
            <a:ext cx="10881360" cy="320040"/>
          </a:xfrm>
          <a:prstGeom prst="rect">
            <a:avLst/>
          </a:prstGeom>
          <a:noFill/>
          <a:ln/>
        </p:spPr>
        <p:txBody>
          <a:bodyPr wrap="square" lIns="0" tIns="0" rIns="0" bIns="0" rtlCol="0" anchor="ctr"/>
          <a:lstStyle/>
          <a:p>
            <a:pPr indent="0" marL="0">
              <a:buNone/>
            </a:pPr>
            <a:r>
              <a:rPr lang="en-US" sz="1200" dirty="0">
                <a:solidFill>
                  <a:srgbClr val="5A6B70"/>
                </a:solidFill>
                <a:latin typeface="Calibri" pitchFamily="34" charset="0"/>
                <a:ea typeface="Calibri" pitchFamily="34" charset="-122"/>
                <a:cs typeface="Calibri" pitchFamily="34" charset="-120"/>
              </a:rPr>
              <a:t>Estos criterios corresponden a las consideraciones incluidas en las instrucciones de la evaluación.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323B"/>
        </a:solidFill>
      </p:bgPr>
    </p:bg>
    <p:spTree>
      <p:nvGrpSpPr>
        <p:cNvPr id="1" name=""/>
        <p:cNvGrpSpPr/>
        <p:nvPr/>
      </p:nvGrpSpPr>
      <p:grpSpPr>
        <a:xfrm>
          <a:off x="0" y="0"/>
          <a:ext cx="0" cy="0"/>
          <a:chOff x="0" y="0"/>
          <a:chExt cx="0" cy="0"/>
        </a:xfrm>
      </p:grpSpPr>
      <p:sp>
        <p:nvSpPr>
          <p:cNvPr id="2" name="Shape 0"/>
          <p:cNvSpPr/>
          <p:nvPr/>
        </p:nvSpPr>
        <p:spPr>
          <a:xfrm>
            <a:off x="-1463040" y="3840480"/>
            <a:ext cx="4206240" cy="4206240"/>
          </a:xfrm>
          <a:prstGeom prst="ellipse">
            <a:avLst/>
          </a:prstGeom>
          <a:solidFill>
            <a:srgbClr val="028090">
              <a:alpha val="35000"/>
            </a:srgbClr>
          </a:solidFill>
          <a:ln/>
        </p:spPr>
      </p:sp>
      <p:sp>
        <p:nvSpPr>
          <p:cNvPr id="3" name="Text 1"/>
          <p:cNvSpPr txBox="1"/>
          <p:nvPr/>
        </p:nvSpPr>
        <p:spPr>
          <a:xfrm>
            <a:off x="640080" y="868680"/>
            <a:ext cx="7315200" cy="292608"/>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ANTES DE EXPONER</a:t>
            </a:r>
            <a:endParaRPr lang="en-US" sz="1300" dirty="0"/>
          </a:p>
        </p:txBody>
      </p:sp>
      <p:sp>
        <p:nvSpPr>
          <p:cNvPr id="4" name="Text 2"/>
          <p:cNvSpPr txBox="1"/>
          <p:nvPr/>
        </p:nvSpPr>
        <p:spPr>
          <a:xfrm>
            <a:off x="640080" y="1188720"/>
            <a:ext cx="82296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Lista de verificación</a:t>
            </a:r>
            <a:endParaRPr lang="en-US" sz="3600" dirty="0"/>
          </a:p>
        </p:txBody>
      </p:sp>
      <p:sp>
        <p:nvSpPr>
          <p:cNvPr id="5" name="Shape 3"/>
          <p:cNvSpPr/>
          <p:nvPr/>
        </p:nvSpPr>
        <p:spPr>
          <a:xfrm>
            <a:off x="640080" y="2368296"/>
            <a:ext cx="292608" cy="292608"/>
          </a:xfrm>
          <a:prstGeom prst="roundRect">
            <a:avLst>
              <a:gd name="adj" fmla="val 18750"/>
            </a:avLst>
          </a:prstGeom>
          <a:solidFill>
            <a:srgbClr val="05323B"/>
          </a:solidFill>
          <a:ln w="19050">
            <a:solidFill>
              <a:srgbClr val="02C39A"/>
            </a:solidFill>
            <a:prstDash val="solid"/>
          </a:ln>
        </p:spPr>
      </p:sp>
      <p:sp>
        <p:nvSpPr>
          <p:cNvPr id="6" name="Text 4"/>
          <p:cNvSpPr txBox="1"/>
          <p:nvPr/>
        </p:nvSpPr>
        <p:spPr>
          <a:xfrm>
            <a:off x="1143000" y="2185416"/>
            <a:ext cx="4754880" cy="914400"/>
          </a:xfrm>
          <a:prstGeom prst="rect">
            <a:avLst/>
          </a:prstGeom>
          <a:noFill/>
          <a:ln/>
        </p:spPr>
        <p:txBody>
          <a:bodyPr wrap="square" lIns="0" tIns="0" rIns="0" bIns="0" rtlCol="0" anchor="ctr"/>
          <a:lstStyle/>
          <a:p>
            <a:pPr indent="0" marL="0">
              <a:lnSpc>
                <a:spcPts val="2000"/>
              </a:lnSpc>
              <a:buNone/>
            </a:pPr>
            <a:r>
              <a:rPr lang="en-US" sz="1400" dirty="0">
                <a:solidFill>
                  <a:srgbClr val="E2EFF0"/>
                </a:solidFill>
                <a:latin typeface="Calibri" pitchFamily="34" charset="0"/>
                <a:ea typeface="Calibri" pitchFamily="34" charset="-122"/>
                <a:cs typeface="Calibri" pitchFamily="34" charset="-120"/>
              </a:rPr>
              <a:t>La noticia tiene menos de cinco años y se relaciona con mi área.</a:t>
            </a:r>
            <a:endParaRPr lang="en-US" sz="1400" dirty="0"/>
          </a:p>
        </p:txBody>
      </p:sp>
      <p:sp>
        <p:nvSpPr>
          <p:cNvPr id="7" name="Shape 5"/>
          <p:cNvSpPr/>
          <p:nvPr/>
        </p:nvSpPr>
        <p:spPr>
          <a:xfrm>
            <a:off x="6217920" y="2368296"/>
            <a:ext cx="292608" cy="292608"/>
          </a:xfrm>
          <a:prstGeom prst="roundRect">
            <a:avLst>
              <a:gd name="adj" fmla="val 18750"/>
            </a:avLst>
          </a:prstGeom>
          <a:solidFill>
            <a:srgbClr val="05323B"/>
          </a:solidFill>
          <a:ln w="19050">
            <a:solidFill>
              <a:srgbClr val="02C39A"/>
            </a:solidFill>
            <a:prstDash val="solid"/>
          </a:ln>
        </p:spPr>
      </p:sp>
      <p:sp>
        <p:nvSpPr>
          <p:cNvPr id="8" name="Text 6"/>
          <p:cNvSpPr txBox="1"/>
          <p:nvPr/>
        </p:nvSpPr>
        <p:spPr>
          <a:xfrm>
            <a:off x="6720840" y="2185416"/>
            <a:ext cx="4754880" cy="914400"/>
          </a:xfrm>
          <a:prstGeom prst="rect">
            <a:avLst/>
          </a:prstGeom>
          <a:noFill/>
          <a:ln/>
        </p:spPr>
        <p:txBody>
          <a:bodyPr wrap="square" lIns="0" tIns="0" rIns="0" bIns="0" rtlCol="0" anchor="ctr"/>
          <a:lstStyle/>
          <a:p>
            <a:pPr indent="0" marL="0">
              <a:lnSpc>
                <a:spcPts val="2000"/>
              </a:lnSpc>
              <a:buNone/>
            </a:pPr>
            <a:r>
              <a:rPr lang="en-US" sz="1400" dirty="0">
                <a:solidFill>
                  <a:srgbClr val="E2EFF0"/>
                </a:solidFill>
                <a:latin typeface="Calibri" pitchFamily="34" charset="0"/>
                <a:ea typeface="Calibri" pitchFamily="34" charset="-122"/>
                <a:cs typeface="Calibri" pitchFamily="34" charset="-120"/>
              </a:rPr>
              <a:t>Están identificados el título de la clase y los cuatro conceptos clave.</a:t>
            </a:r>
            <a:endParaRPr lang="en-US" sz="1400" dirty="0"/>
          </a:p>
        </p:txBody>
      </p:sp>
      <p:sp>
        <p:nvSpPr>
          <p:cNvPr id="9" name="Shape 7"/>
          <p:cNvSpPr/>
          <p:nvPr/>
        </p:nvSpPr>
        <p:spPr>
          <a:xfrm>
            <a:off x="640080" y="3511296"/>
            <a:ext cx="292608" cy="292608"/>
          </a:xfrm>
          <a:prstGeom prst="roundRect">
            <a:avLst>
              <a:gd name="adj" fmla="val 18750"/>
            </a:avLst>
          </a:prstGeom>
          <a:solidFill>
            <a:srgbClr val="05323B"/>
          </a:solidFill>
          <a:ln w="19050">
            <a:solidFill>
              <a:srgbClr val="02C39A"/>
            </a:solidFill>
            <a:prstDash val="solid"/>
          </a:ln>
        </p:spPr>
      </p:sp>
      <p:sp>
        <p:nvSpPr>
          <p:cNvPr id="10" name="Text 8"/>
          <p:cNvSpPr txBox="1"/>
          <p:nvPr/>
        </p:nvSpPr>
        <p:spPr>
          <a:xfrm>
            <a:off x="1143000" y="3328416"/>
            <a:ext cx="4754880" cy="914400"/>
          </a:xfrm>
          <a:prstGeom prst="rect">
            <a:avLst/>
          </a:prstGeom>
          <a:noFill/>
          <a:ln/>
        </p:spPr>
        <p:txBody>
          <a:bodyPr wrap="square" lIns="0" tIns="0" rIns="0" bIns="0" rtlCol="0" anchor="ctr"/>
          <a:lstStyle/>
          <a:p>
            <a:pPr indent="0" marL="0">
              <a:lnSpc>
                <a:spcPts val="2000"/>
              </a:lnSpc>
              <a:buNone/>
            </a:pPr>
            <a:r>
              <a:rPr lang="en-US" sz="1400" dirty="0">
                <a:solidFill>
                  <a:srgbClr val="E2EFF0"/>
                </a:solidFill>
                <a:latin typeface="Calibri" pitchFamily="34" charset="0"/>
                <a:ea typeface="Calibri" pitchFamily="34" charset="-122"/>
                <a:cs typeface="Calibri" pitchFamily="34" charset="-120"/>
              </a:rPr>
              <a:t>La síntesis conecta explícitamente la noticia con esos cuatro conceptos.</a:t>
            </a:r>
            <a:endParaRPr lang="en-US" sz="1400" dirty="0"/>
          </a:p>
        </p:txBody>
      </p:sp>
      <p:sp>
        <p:nvSpPr>
          <p:cNvPr id="11" name="Shape 9"/>
          <p:cNvSpPr/>
          <p:nvPr/>
        </p:nvSpPr>
        <p:spPr>
          <a:xfrm>
            <a:off x="6217920" y="3511296"/>
            <a:ext cx="292608" cy="292608"/>
          </a:xfrm>
          <a:prstGeom prst="roundRect">
            <a:avLst>
              <a:gd name="adj" fmla="val 18750"/>
            </a:avLst>
          </a:prstGeom>
          <a:solidFill>
            <a:srgbClr val="05323B"/>
          </a:solidFill>
          <a:ln w="19050">
            <a:solidFill>
              <a:srgbClr val="02C39A"/>
            </a:solidFill>
            <a:prstDash val="solid"/>
          </a:ln>
        </p:spPr>
      </p:sp>
      <p:sp>
        <p:nvSpPr>
          <p:cNvPr id="12" name="Text 10"/>
          <p:cNvSpPr txBox="1"/>
          <p:nvPr/>
        </p:nvSpPr>
        <p:spPr>
          <a:xfrm>
            <a:off x="6720840" y="3328416"/>
            <a:ext cx="4754880" cy="914400"/>
          </a:xfrm>
          <a:prstGeom prst="rect">
            <a:avLst/>
          </a:prstGeom>
          <a:noFill/>
          <a:ln/>
        </p:spPr>
        <p:txBody>
          <a:bodyPr wrap="square" lIns="0" tIns="0" rIns="0" bIns="0" rtlCol="0" anchor="ctr"/>
          <a:lstStyle/>
          <a:p>
            <a:pPr indent="0" marL="0">
              <a:lnSpc>
                <a:spcPts val="2000"/>
              </a:lnSpc>
              <a:buNone/>
            </a:pPr>
            <a:r>
              <a:rPr lang="en-US" sz="1400" dirty="0">
                <a:solidFill>
                  <a:srgbClr val="E2EFF0"/>
                </a:solidFill>
                <a:latin typeface="Calibri" pitchFamily="34" charset="0"/>
                <a:ea typeface="Calibri" pitchFamily="34" charset="-122"/>
                <a:cs typeface="Calibri" pitchFamily="34" charset="-120"/>
              </a:rPr>
              <a:t>El cierre explica el impacto de la virtud en el carácter y en la excelencia profesional.</a:t>
            </a:r>
            <a:endParaRPr lang="en-US" sz="1400" dirty="0"/>
          </a:p>
        </p:txBody>
      </p:sp>
      <p:sp>
        <p:nvSpPr>
          <p:cNvPr id="13" name="Shape 11"/>
          <p:cNvSpPr/>
          <p:nvPr/>
        </p:nvSpPr>
        <p:spPr>
          <a:xfrm>
            <a:off x="640080" y="4654296"/>
            <a:ext cx="292608" cy="292608"/>
          </a:xfrm>
          <a:prstGeom prst="roundRect">
            <a:avLst>
              <a:gd name="adj" fmla="val 18750"/>
            </a:avLst>
          </a:prstGeom>
          <a:solidFill>
            <a:srgbClr val="05323B"/>
          </a:solidFill>
          <a:ln w="19050">
            <a:solidFill>
              <a:srgbClr val="02C39A"/>
            </a:solidFill>
            <a:prstDash val="solid"/>
          </a:ln>
        </p:spPr>
      </p:sp>
      <p:sp>
        <p:nvSpPr>
          <p:cNvPr id="14" name="Text 12"/>
          <p:cNvSpPr txBox="1"/>
          <p:nvPr/>
        </p:nvSpPr>
        <p:spPr>
          <a:xfrm>
            <a:off x="1143000" y="4471416"/>
            <a:ext cx="4754880" cy="914400"/>
          </a:xfrm>
          <a:prstGeom prst="rect">
            <a:avLst/>
          </a:prstGeom>
          <a:noFill/>
          <a:ln/>
        </p:spPr>
        <p:txBody>
          <a:bodyPr wrap="square" lIns="0" tIns="0" rIns="0" bIns="0" rtlCol="0" anchor="ctr"/>
          <a:lstStyle/>
          <a:p>
            <a:pPr indent="0" marL="0">
              <a:lnSpc>
                <a:spcPts val="2000"/>
              </a:lnSpc>
              <a:buNone/>
            </a:pPr>
            <a:r>
              <a:rPr lang="en-US" sz="1400" dirty="0">
                <a:solidFill>
                  <a:srgbClr val="E2EFF0"/>
                </a:solidFill>
                <a:latin typeface="Calibri" pitchFamily="34" charset="0"/>
                <a:ea typeface="Calibri" pitchFamily="34" charset="-122"/>
                <a:cs typeface="Calibri" pitchFamily="34" charset="-120"/>
              </a:rPr>
              <a:t>El equipo ensayó dentro de los cinco minutos.</a:t>
            </a:r>
            <a:endParaRPr lang="en-US" sz="1400" dirty="0"/>
          </a:p>
        </p:txBody>
      </p:sp>
      <p:sp>
        <p:nvSpPr>
          <p:cNvPr id="15" name="Shape 13"/>
          <p:cNvSpPr/>
          <p:nvPr/>
        </p:nvSpPr>
        <p:spPr>
          <a:xfrm>
            <a:off x="6217920" y="4654296"/>
            <a:ext cx="292608" cy="292608"/>
          </a:xfrm>
          <a:prstGeom prst="roundRect">
            <a:avLst>
              <a:gd name="adj" fmla="val 18750"/>
            </a:avLst>
          </a:prstGeom>
          <a:solidFill>
            <a:srgbClr val="05323B"/>
          </a:solidFill>
          <a:ln w="19050">
            <a:solidFill>
              <a:srgbClr val="02C39A"/>
            </a:solidFill>
            <a:prstDash val="solid"/>
          </a:ln>
        </p:spPr>
      </p:sp>
      <p:sp>
        <p:nvSpPr>
          <p:cNvPr id="16" name="Text 14"/>
          <p:cNvSpPr txBox="1"/>
          <p:nvPr/>
        </p:nvSpPr>
        <p:spPr>
          <a:xfrm>
            <a:off x="6720840" y="4471416"/>
            <a:ext cx="4754880" cy="914400"/>
          </a:xfrm>
          <a:prstGeom prst="rect">
            <a:avLst/>
          </a:prstGeom>
          <a:noFill/>
          <a:ln/>
        </p:spPr>
        <p:txBody>
          <a:bodyPr wrap="square" lIns="0" tIns="0" rIns="0" bIns="0" rtlCol="0" anchor="ctr"/>
          <a:lstStyle/>
          <a:p>
            <a:pPr indent="0" marL="0">
              <a:lnSpc>
                <a:spcPts val="2000"/>
              </a:lnSpc>
              <a:buNone/>
            </a:pPr>
            <a:r>
              <a:rPr lang="en-US" sz="1400" dirty="0">
                <a:solidFill>
                  <a:srgbClr val="E2EFF0"/>
                </a:solidFill>
                <a:latin typeface="Calibri" pitchFamily="34" charset="0"/>
                <a:ea typeface="Calibri" pitchFamily="34" charset="-122"/>
                <a:cs typeface="Calibri" pitchFamily="34" charset="-120"/>
              </a:rPr>
              <a:t>Cada integrante puede responder preguntas con lenguaje técnico.</a:t>
            </a:r>
            <a:endParaRPr lang="en-US" sz="1400" dirty="0"/>
          </a:p>
        </p:txBody>
      </p:sp>
      <p:sp>
        <p:nvSpPr>
          <p:cNvPr id="17" name="Text 15"/>
          <p:cNvSpPr txBox="1"/>
          <p:nvPr/>
        </p:nvSpPr>
        <p:spPr>
          <a:xfrm>
            <a:off x="640080" y="6126480"/>
            <a:ext cx="10881360" cy="320040"/>
          </a:xfrm>
          <a:prstGeom prst="rect">
            <a:avLst/>
          </a:prstGeom>
          <a:noFill/>
          <a:ln/>
        </p:spPr>
        <p:txBody>
          <a:bodyPr wrap="square" lIns="0" tIns="0" rIns="0" bIns="0" rtlCol="0" anchor="ctr"/>
          <a:lstStyle/>
          <a:p>
            <a:pPr indent="0" marL="0">
              <a:buNone/>
            </a:pPr>
            <a:r>
              <a:rPr lang="en-US" sz="1250" dirty="0">
                <a:solidFill>
                  <a:srgbClr val="8FB3B6"/>
                </a:solidFill>
                <a:latin typeface="Calibri" pitchFamily="34" charset="0"/>
                <a:ea typeface="Calibri" pitchFamily="34" charset="-122"/>
                <a:cs typeface="Calibri" pitchFamily="34" charset="-120"/>
              </a:rPr>
              <a:t>Ética para el Trabajo  |  Evaluación parcial N°1  |  35% de la nota final</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Evaluacion parcial N1 - Etica para el Trabajo</dc:title>
  <dc:subject>PptxGenJS Presentation</dc:subject>
  <dc:creator>Fernando Vergara Henriquez</dc:creator>
  <cp:lastModifiedBy>Fernando Vergara Henriquez</cp:lastModifiedBy>
  <cp:revision>1</cp:revision>
  <dcterms:created xsi:type="dcterms:W3CDTF">2026-08-26T22:36:50Z</dcterms:created>
  <dcterms:modified xsi:type="dcterms:W3CDTF">2026-08-26T22:36:50Z</dcterms:modified>
</cp:coreProperties>
</file>